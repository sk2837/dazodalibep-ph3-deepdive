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focus the quantitative forecast on the systemic trial, as permitted by the brief, and use the symptomatic study to assess how far the evidence extends across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positive call comes from the evidence as a whole. Larger enrollment improves precision; it does not establish that the drug will retain its Phase 2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outcomes listed as primary do not, by themselves, tell us whether both must pass or a hierarchy applies. I do not infer that rule from the registry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populations should not be reduced to ‘reversible’ versus ‘irreversible’ disease. Residual gland function may matter — Population 2’s Phase 2 precursor required residual stimulated salivary flow ≥0.1 mL/min — but fatigue and pain are not simply measurements of gland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mechanism establishes plausibility. The randomized clinical results are the direct test of efficacy; pharmacodynamic data help establish whether the expected biology is engaged.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evidence is the prespecified randomized first period. The crossover is supportive, with carryover and time-related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evidence against the null under the trial's analysis. The p-value is not a 1.7% probability the result is a fluke, nor does it establish the study's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Nonsignificant responder outcomes do not prove a faulty endpoint — dichotomizing loses information and the sample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the total score and its components favor treatment, but Phase 3 tests a later timepoint and also lists DASPRI as a second co-primary.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Biomarker values are ratios to each arm's own baseline, not direct drug/placebo ratios. A crossover is not a 48-week parallel-group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per-arm comparison (≈6.0×) is the statistically relevant one — total-enrollment ratios mix in the number of arms and overstate the effective information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describes sustained average exposure relative to biomarker IC50 — it does not prove trough coverage for every participant, or quantify the ESSDAI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use these data to check plausible effects and precision, not to establish cross-trial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 is not a meta-analysis or calibrated prior. Dazodalibep's own Phase 2 is not counted again as independent external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1.4? A conservative departure from 2.2, in the range relevant clinical precedents suggest. The conclusion shouldn't depend on spurious decimal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curves describe repeated samples under fixed assumptions — not the unconditional probability that Amgen's actual trial succeeds.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bear case is a small retained effect under realistic noise and testing requirements — not simply that the study is larger.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checked the full text of the Phase 2 paper directly — DASPRI genuinely isn't in it. This is likely because it's a newer instrument built for FDA PRO alignment, added specifically for the Phase 3 registration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separate investigator attribution from demonstrated causality, and primary efficacy from overall benefit-risk.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failed primary test is a failed forecast even if the biology remains interesting. A successful primary test should not be relabeled failure merely because a secondary threshold disappoints.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A"/>
                </a:solidFill>
                <a:latin typeface="Calibri"/>
              </a:rPr>
              <a:t>Dazodalibep in Sjögren’s disease: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1460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7D7B"/>
                </a:solidFill>
                <a:latin typeface="Calibri"/>
              </a:rPr>
              <a:t>forecasting the Phase 3 readout, and what could move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8C8C8C"/>
                </a:solidFill>
                <a:latin typeface="Calibri"/>
              </a:rPr>
              <a:t>Clinical deep dive on Amgen’s Phase 3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1027145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–  Primary forecast: NCT06104124 — systemic disease activity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–  Supporting assessment: NCT06245408 — symptom burden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–  Analysis cutoff: September 15, 2026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–  Prepared by: Sai Adarsh Kasula, Data Scientist / Biostatistician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Jefferies assignment brief.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We expect NCT06104124 to meet its ESSDAI primary endpoint, with meaningful residual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50">
                <a:solidFill>
                  <a:srgbClr val="1B2A4A"/>
                </a:solidFill>
                <a:latin typeface="Calibri"/>
              </a:rPr>
              <a:t>1.  </a:t>
            </a:r>
            <a:r>
              <a:rPr b="1" sz="1550">
                <a:solidFill>
                  <a:srgbClr val="222222"/>
                </a:solidFill>
                <a:latin typeface="Calibri"/>
              </a:rPr>
              <a:t>Direct clinical evidence: </a:t>
            </a:r>
            <a:r>
              <a:rPr b="0" sz="1550">
                <a:solidFill>
                  <a:srgbClr val="222222"/>
                </a:solidFill>
                <a:latin typeface="Calibri"/>
              </a:rPr>
              <a:t>Phase 2 showed a −2.2-point adjusted ESSDAI difference at day 169; p=0.0167.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50">
                <a:solidFill>
                  <a:srgbClr val="1B2A4A"/>
                </a:solidFill>
                <a:latin typeface="Calibri"/>
              </a:rPr>
              <a:t>2.  </a:t>
            </a:r>
            <a:r>
              <a:rPr b="1" sz="1550">
                <a:solidFill>
                  <a:srgbClr val="222222"/>
                </a:solidFill>
                <a:latin typeface="Calibri"/>
              </a:rPr>
              <a:t>Biological coherence: </a:t>
            </a:r>
            <a:r>
              <a:rPr b="0" sz="1550">
                <a:solidFill>
                  <a:srgbClr val="222222"/>
                </a:solidFill>
                <a:latin typeface="Calibri"/>
              </a:rPr>
              <a:t>CD40L blockade reduced immune biomarkers (CXCL13, RF); iscalimab provides additional pathway evidence.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50">
                <a:solidFill>
                  <a:srgbClr val="1B2A4A"/>
                </a:solidFill>
                <a:latin typeface="Calibri"/>
              </a:rPr>
              <a:t>3.  </a:t>
            </a:r>
            <a:r>
              <a:rPr b="1" sz="1550">
                <a:solidFill>
                  <a:srgbClr val="222222"/>
                </a:solidFill>
                <a:latin typeface="Calibri"/>
              </a:rPr>
              <a:t>Confirmatory precedent: </a:t>
            </a:r>
            <a:r>
              <a:rPr b="0" sz="1550">
                <a:solidFill>
                  <a:srgbClr val="222222"/>
                </a:solidFill>
                <a:latin typeface="Calibri"/>
              </a:rPr>
              <a:t>ianalumab demonstrated that week-48 ESSDAI benefit can be detected in Phase 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52044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7E8E7"/>
          </a:solidFill>
          <a:ln w="12700">
            <a:solidFill>
              <a:srgbClr val="B4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b="1" sz="1200">
                <a:solidFill>
                  <a:srgbClr val="B4453E"/>
                </a:solidFill>
                <a:latin typeface="Calibri"/>
              </a:rPr>
              <a:t>MAIN RISK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222222"/>
                </a:solidFill>
                <a:latin typeface="Calibri"/>
              </a:rPr>
              <a:t>A smaller week-48 effect combined with higher variance or stricter multiplicity testing could turn an encouraging signal into a negative primary result.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4526280"/>
          <a:ext cx="11185854" cy="1417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3453"/>
                <a:gridCol w="2460888"/>
                <a:gridCol w="671151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Basis / boundary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Systemic trial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Expect positive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Qualitative analyst forecast; stress-tested below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Symptomatic trial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Positive ESSPRI lean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DASPRI and full success-rule uncertainty limit conviction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03_analysis/final_thesis.md; analyst assessment. No numerically calibrated program probability is claimed.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The program tests two distinct clinical questions at week 48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85855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37171"/>
                <a:gridCol w="4474342"/>
                <a:gridCol w="447434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Systemic: NCT06104124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Symptomatic: NCT06245408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Clinical focus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Moderate-to-severe systemic activity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High symptoms with limited systemic activity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Core eligibility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ESSDAI ≥5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ESSPRI ≥5; ESSDAI &lt;5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Enrollment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651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434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Primary outcomes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ESSDAI change from baseline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ESSPRI AND DASPRI change from baseline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Primary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Week 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Week 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Completed, primary completion 2026-07-23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Active, not recruiting; primary completion est. 2026-10-22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This presentation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Full efficacy forecast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Directional supporting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77900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“Positive” means success under the prespecified primary testing procedure. Statistical significance, clinical importance, and benefit-risk are assessed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01_data/NCT06104124.csv, 01_data/NCT06245408.csv. Full eligibility/testing details require the protocol, not available publicly.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Reducing systemic activity and improving dryness, fatigue and pain are related — but separate —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ESSDAI: </a:t>
            </a:r>
            <a:r>
              <a:rPr b="0" sz="1550">
                <a:solidFill>
                  <a:srgbClr val="222222"/>
                </a:solidFill>
                <a:latin typeface="Calibri"/>
              </a:rPr>
              <a:t>clinician-assessed systemic disease activity across weighted organ domains.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ESSPRI/DASPRI: </a:t>
            </a:r>
            <a:r>
              <a:rPr b="0" sz="1550">
                <a:solidFill>
                  <a:srgbClr val="222222"/>
                </a:solidFill>
                <a:latin typeface="Calibri"/>
              </a:rPr>
              <a:t>patient-reported dryness, fatigue, and pain.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50">
                <a:solidFill>
                  <a:srgbClr val="222222"/>
                </a:solidFill>
                <a:latin typeface="Calibri"/>
              </a:rPr>
              <a:t>•  </a:t>
            </a:r>
            <a:r>
              <a:rPr b="0" sz="1550">
                <a:solidFill>
                  <a:srgbClr val="222222"/>
                </a:solidFill>
                <a:latin typeface="Calibri"/>
              </a:rPr>
              <a:t>Symptoms can reflect several processes; immune suppression need not produce the same benefit in every domain.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063240"/>
            <a:ext cx="5120640" cy="2651760"/>
          </a:xfrm>
          <a:prstGeom prst="roundRect">
            <a:avLst>
              <a:gd name="adj" fmla="val 45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8135" y="3063240"/>
            <a:ext cx="5120640" cy="2651760"/>
          </a:xfrm>
          <a:prstGeom prst="roundRect">
            <a:avLst>
              <a:gd name="adj" fmla="val 4500"/>
            </a:avLst>
          </a:prstGeom>
          <a:solidFill>
            <a:srgbClr val="2E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78527" y="3566160"/>
            <a:ext cx="2834640" cy="1645919"/>
          </a:xfrm>
          <a:prstGeom prst="ellipse">
            <a:avLst/>
          </a:prstGeom>
          <a:solidFill>
            <a:srgbClr val="8C8C8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Partial overlap
(not equivalent)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64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Systemic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Joint / musculoskeletal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Glandular / hematologic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Cutaneous, renal, pulmonary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Clinician-scored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455" y="3264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Patient 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2735" y="3749039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Dryness (eyes, mouth)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Fatigue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Pain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•  Patient-reported diary/questionnaire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02_research/phase2_baseline_characteristics.md. The gland-function point is clinical interpretation, not proven explanation.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CD40L blockade interrupts immune-cell costimulation implicated in Sjögren’s disease</a:t>
            </a:r>
          </a:p>
        </p:txBody>
      </p:sp>
      <p:pic>
        <p:nvPicPr>
          <p:cNvPr id="3" name="Picture 2" descr="slide5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95" y="1417320"/>
            <a:ext cx="7004103" cy="3246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800600"/>
            <a:ext cx="11185855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  <a:latin typeface="Calibri"/>
              </a:rPr>
              <a:t>•  CD40L–CD40 signaling </a:t>
            </a:r>
            <a:r>
              <a:rPr b="0" sz="1300">
                <a:solidFill>
                  <a:srgbClr val="222222"/>
                </a:solidFill>
                <a:latin typeface="Calibri"/>
              </a:rPr>
              <a:t>supports T-cell/B-cell interactions and downstream immune activation.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  <a:latin typeface="Calibri"/>
              </a:rPr>
              <a:t>•  Dazodalibep blocks the ligand </a:t>
            </a:r>
            <a:r>
              <a:rPr b="0" sz="1300">
                <a:solidFill>
                  <a:srgbClr val="222222"/>
                </a:solidFill>
                <a:latin typeface="Calibri"/>
              </a:rPr>
              <a:t>(CD40L); iscalimab targets the receptor (CD40).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00">
                <a:solidFill>
                  <a:srgbClr val="222222"/>
                </a:solidFill>
                <a:latin typeface="Calibri"/>
              </a:rPr>
              <a:t>•  Fc-free Tn3-scaffold design </a:t>
            </a:r>
            <a:r>
              <a:rPr b="0" sz="1300">
                <a:solidFill>
                  <a:srgbClr val="222222"/>
                </a:solidFill>
                <a:latin typeface="Calibri"/>
              </a:rPr>
              <a:t>is engineered to avoid the Fc-mediated platelet-crosslinking mechanism implicated in first-generation anti-CD40L antibody thromboembolism.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PROJECT_STATUS.md Section 2; 02_research/phase2_results.md (Tn3 scaffold, not “PASylated”).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Phase 2 provides two randomized efficacy tests, followed by a blinded treatment switch</a:t>
            </a:r>
          </a:p>
        </p:txBody>
      </p:sp>
      <p:pic>
        <p:nvPicPr>
          <p:cNvPr id="3" name="Picture 2" descr="slide6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868" y="1371600"/>
            <a:ext cx="6243958" cy="1965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3520440"/>
          <a:ext cx="11185854" cy="19568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84605"/>
                <a:gridCol w="3355756"/>
                <a:gridCol w="5145493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Population 1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Population 2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Randomized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Dazodalibep / placebo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36 / 38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54 / 55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Core entry criteria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ESSDAI ≥5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ESSPRI ≥5, ESSDAI &lt;5, stimulated flow ≥0.1 mL/min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Primary outcome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ESSDAI change, day 169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ESSPRI change, day 169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Stage I completion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71/74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102/109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59612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1B2A4A"/>
                </a:solidFill>
                <a:latin typeface="Calibri"/>
              </a:rPr>
              <a:t>One IV regimen — 1,500mg every 2 weeks for 3 doses, then every 4 weeks for 4 doses. No dose-ranging in this Sjögren’s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02_research/phase2_paper_explained.md, 02_research/phase2_results.md.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Dazodalibep produced greater ESSDAI improvement than placebo in Phase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5715000" cy="960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28900"/>
                <a:gridCol w="1543050"/>
                <a:gridCol w="154305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Day-169 change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Dazodalibep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Placebo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Adjusted mean ± 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−6.3 ±0.6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−4.1 ±0.6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2606040"/>
            <a:ext cx="5715000" cy="1325880"/>
          </a:xfrm>
          <a:prstGeom prst="roundRect">
            <a:avLst>
              <a:gd name="adj" fmla="val 6000"/>
            </a:avLst>
          </a:prstGeom>
          <a:solidFill>
            <a:srgbClr val="E6F1F0"/>
          </a:solidFill>
          <a:ln w="12700">
            <a:solidFill>
              <a:srgbClr val="2E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b="1" sz="1200">
                <a:solidFill>
                  <a:srgbClr val="2E7D7B"/>
                </a:solidFill>
                <a:latin typeface="Calibri"/>
              </a:rPr>
              <a:t>ADJUSTED DIFFERENCE: −2.2 POINTS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Reported 90% CI approximately −3.6 to −0.7; p=0.0167. This is a 90% CI — not the 95% CI used elsewhere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60520"/>
            <a:ext cx="5715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The prespecified primary result supports systemic efficacy.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The trial used two-sided α=0.10 (small-N caution); this result also clears standard 0.05.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Small sample size leaves uncertainty about the reproducible effect.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1417320"/>
            <a:ext cx="5150815" cy="457200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9127" y="1618488"/>
            <a:ext cx="4693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READING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7" y="2011680"/>
            <a:ext cx="474847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Higher ESSDAI = worse disease; a larger negative change = more improvement.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Both arms improved from baseline — the placebo arm’s own −4.1-point drop reflects the known placebo-response pattern in this endpoint.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The 90% CI excludes zero, consistent with the reported p=0.0167.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N-at-risk and the full ESSDAI trajectory (paper Fig. 2a) are not reproduced numerically here beyond the day-169 readout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Responder and subgroup results support a cautious interpretation of the systemic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EXHIBIT A — DAY-169 RESPONSE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09928"/>
          <a:ext cx="571500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85950"/>
                <a:gridCol w="1257300"/>
                <a:gridCol w="1257300"/>
                <a:gridCol w="131445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Improvement threshold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DAZ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Placebo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≥3 ESSDAI 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26/36; 72.2%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22/37; 59.5%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0.3283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≥4 ESSDAI 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24/36; 66.7%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18/37; 48.6%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0.1823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≥5 ESSDAI 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61.1%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35.1%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0.0449;</a:t>
                      </a:r>
                    </a:p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post hoc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114800"/>
            <a:ext cx="5715000" cy="1417320"/>
          </a:xfrm>
          <a:prstGeom prst="roundRect">
            <a:avLst>
              <a:gd name="adj" fmla="val 4500"/>
            </a:avLst>
          </a:prstGeom>
          <a:solidFill>
            <a:srgbClr val="F6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224528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08A00"/>
                </a:solidFill>
                <a:latin typeface="Calibri"/>
              </a:rPr>
              <a:t>EXHIBIT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4480560"/>
            <a:ext cx="5349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Exploratory adjusted difference without RA/SLE ≈−1.6; with RA/SLE ≈−3.3. Small subgroup 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521208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B08A00"/>
                </a:solidFill>
                <a:latin typeface="Calibri"/>
              </a:rPr>
              <a:t>exploratory, small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1417320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ON-SLIDE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783080"/>
            <a:ext cx="51508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222222"/>
                </a:solidFill>
                <a:latin typeface="Calibri"/>
              </a:rPr>
              <a:t>Directionally favorable results do not establish a robust responder effect or a treatment-by-subgroup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59" y="2880360"/>
            <a:ext cx="5150815" cy="274320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108960"/>
            <a:ext cx="478505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Bars show n/N, not just %, to keep small-sample denominators visible — e.g. 26/36 (72.2%) vs. 22/37 (59.5%) at the ≥3-point threshold. None of the three dichotomized thresholds reaches significance at the prespecified level; only the post hoc ≥5-point cut does.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The symptom cohort showed a broad signal across dryness, fatigue and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EXHIBIT — POPULATION 2, DAY 169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09928"/>
          <a:ext cx="5715000" cy="1984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7400"/>
                <a:gridCol w="1257300"/>
                <a:gridCol w="1371600"/>
                <a:gridCol w="10287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DAZ change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Placebo change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ESSPRI total — primary</a:t>
                      </a:r>
                    </a:p>
                  </a:txBody>
                  <a:tcPr marL="73152" marR="73152" marT="27432" marB="27432" anchor="ctr">
                    <a:solidFill>
                      <a:srgbClr val="E6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−1.80</a:t>
                      </a:r>
                    </a:p>
                  </a:txBody>
                  <a:tcPr marL="73152" marR="73152" marT="27432" marB="27432" anchor="ctr">
                    <a:solidFill>
                      <a:srgbClr val="E6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−0.53</a:t>
                      </a:r>
                    </a:p>
                  </a:txBody>
                  <a:tcPr marL="73152" marR="73152" marT="27432" marB="27432" anchor="ctr">
                    <a:solidFill>
                      <a:srgbClr val="E6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0.0002</a:t>
                      </a:r>
                    </a:p>
                  </a:txBody>
                  <a:tcPr marL="73152" marR="73152" marT="27432" marB="27432" anchor="ctr">
                    <a:solidFill>
                      <a:srgbClr val="E6F1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Dryness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0.0066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Fatigue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0.0022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0.0010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434840"/>
            <a:ext cx="5715000" cy="1051560"/>
          </a:xfrm>
          <a:prstGeom prst="roundRect">
            <a:avLst>
              <a:gd name="adj" fmla="val 6000"/>
            </a:avLst>
          </a:prstGeom>
          <a:solidFill>
            <a:srgbClr val="E6F1F0"/>
          </a:solidFill>
          <a:ln w="12700">
            <a:solidFill>
              <a:srgbClr val="2E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b="1" sz="1200">
                <a:solidFill>
                  <a:srgbClr val="2E7D7B"/>
                </a:solidFill>
                <a:latin typeface="Calibri"/>
              </a:rPr>
              <a:t>PRIMARY ENDPOINT CONTRAST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Adjusted total-score contrast −1.27; 90% CI −1.82 to −0.73. This is a 90% CI, consistent with Slide 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1417320"/>
            <a:ext cx="5150815" cy="457200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00200"/>
            <a:ext cx="47850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READING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7850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All four rows favor dazodalibep, and the primary ESSPRI-total result is the strongest p-value in the whole Phase 2 program.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Directional consistency across dryness, fatigue and pain supports read-through beyond the single total score.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Domain-level tests (dryness/fatigue/pain) are supportive and unadjusted for multiplicity — read them as consistency checks, not independently confirmatory results.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Phase 3 tests a later timepoint (week 48, not day 169) and adds DASPRI as a second co-primary (see Slide 18).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Biomarker suppression supports drug activity; crossover patterns add qualified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EXHIBIT A — ADJUSTED GEOMETRIC MEAN RATIO TO BASELINE, DAY 169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5715000" cy="12618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43100"/>
                <a:gridCol w="1885950"/>
                <a:gridCol w="188595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Biomarker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Pop 1: DAZ/Pbo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Pop 2: DAZ/Pbo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CXCL13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0.67 / 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0.56 / 1.06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Rheumatoid factor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0.66 / 1.13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0.54 / 0.94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246120"/>
            <a:ext cx="571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C8C8C"/>
                </a:solidFill>
                <a:latin typeface="Calibri"/>
              </a:rPr>
              <a:t>Ratios &lt;1.0 = suppression relative to each arm’s own baseline (not a direct drug/placebo ratio).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86200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EXHIBIT B — CHANGE FROM BASELINE, DAY 169 → DAY 365 (CROSSOVER)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251960"/>
          <a:ext cx="571500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718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Population / sequence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Trajectory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Systemic, placebo→DAZ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ESSDAI −4.1 → −6.3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Systemic, DAZ→placebo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ESSDAI −6.3 → −4.4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Symptomatic, DAZ→placebo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ESSPRI −1.8 → −1.9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59" y="1417320"/>
            <a:ext cx="5150815" cy="457200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7850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ON-SLIDE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47672"/>
            <a:ext cx="47850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222222"/>
                </a:solidFill>
                <a:latin typeface="Calibri"/>
              </a:rPr>
              <a:t>Pharmacological activity is supported; durable clinical efficacy under the Phase 3 regimen remains a separate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154680"/>
            <a:ext cx="478505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•  Switching to dazodalibep (placebo→DAZ) improved further; switching off it (DAZ→placebo) partially reversed — both consistent with an active drug effect.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•  A crossover after unblinding is not a 48-week parallel-group replication; carryover and expectation effects are real limitations.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Phase 3 increases information and changes duration and dose comparisons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85854" cy="3474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0888"/>
                <a:gridCol w="1789736"/>
                <a:gridCol w="2237171"/>
                <a:gridCol w="469805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 2 systemic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 3 systemic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Forecast implication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Randomized 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651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More precision; not proportional effect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Active/control n (one comparison)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36 / 38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~217 / 217 assumed</a:t>
                      </a:r>
                    </a:p>
                  </a:txBody>
                  <a:tcPr marL="73152" marR="73152" marT="27432" marB="27432" anchor="ctr">
                    <a:solidFill>
                      <a:srgbClr val="F6E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≈6.0× per-arm increase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Primary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Day 169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Week 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Longer durability and placebo-response window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Active regimens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One dose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Two dose arms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Dose selection and multiplicity matter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ESSDAI entry floor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≥5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≥5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No established loosening of this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Baseline/domain mix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Not established</a:t>
                      </a:r>
                    </a:p>
                  </a:txBody>
                  <a:tcPr marL="73152" marR="73152" marT="27432" marB="27432" anchor="ctr">
                    <a:solidFill>
                      <a:srgbClr val="F6E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A real transportability uncertainty</a:t>
                      </a:r>
                    </a:p>
                  </a:txBody>
                  <a:tcPr marL="73152" marR="73152" marT="27432" marB="27432" anchor="ctr">
                    <a:solidFill>
                      <a:srgbClr val="F6EED6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02920" y="5779008"/>
            <a:ext cx="201168" cy="164592"/>
          </a:xfrm>
          <a:prstGeom prst="rect">
            <a:avLst/>
          </a:prstGeom>
          <a:solidFill>
            <a:srgbClr val="F6EED6"/>
          </a:solidFill>
          <a:ln w="9525">
            <a:solidFill>
              <a:srgbClr val="B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5742432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C8C"/>
                </a:solidFill>
                <a:latin typeface="Calibri"/>
              </a:rPr>
              <a:t>= assumed or not established, not confirmed by the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03_analysis/final_thesis.md, 02_research/phase2_baseline_characteristics.md. Allocation assumed equal; not confirmed by registry.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PK/PD supports dose selection, while clinical effect and testing rules remain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22222"/>
                </a:solidFill>
                <a:latin typeface="Calibri"/>
              </a:rPr>
              <a:t>•  A population PK/PD model </a:t>
            </a:r>
            <a:r>
              <a:rPr b="0" sz="1400">
                <a:solidFill>
                  <a:srgbClr val="222222"/>
                </a:solidFill>
                <a:latin typeface="Calibri"/>
              </a:rPr>
              <a:t>pooled 4 trials (healthy volunteers, RA, Sjögren’s), relating exposure to immune biomarkers.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22222"/>
                </a:solidFill>
                <a:latin typeface="Calibri"/>
              </a:rPr>
              <a:t>•  Sjögren’s patients clear the drug more slowly </a:t>
            </a:r>
            <a:r>
              <a:rPr b="0" sz="1400">
                <a:solidFill>
                  <a:srgbClr val="222222"/>
                </a:solidFill>
                <a:latin typeface="Calibri"/>
              </a:rPr>
              <a:t>than healthy volunteers/RA patients — a real, population-specific PK finding.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22222"/>
                </a:solidFill>
                <a:latin typeface="Calibri"/>
              </a:rPr>
              <a:t>•  The model supports </a:t>
            </a:r>
            <a:r>
              <a:rPr b="0" sz="1400">
                <a:solidFill>
                  <a:srgbClr val="222222"/>
                </a:solidFill>
                <a:latin typeface="Calibri"/>
              </a:rPr>
              <a:t>the proposed Phase 3 doses achieving sustained exposure above the Ki67+/RF biomarker IC50 — a pharmacodynamic target, not a clinical efficacy guarantee.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22222"/>
                </a:solidFill>
                <a:latin typeface="Calibri"/>
              </a:rPr>
              <a:t>•  Two active arms vs. one shared placebo </a:t>
            </a:r>
            <a:r>
              <a:rPr b="0" sz="1400">
                <a:solidFill>
                  <a:srgbClr val="222222"/>
                </a:solidFill>
                <a:latin typeface="Calibri"/>
              </a:rPr>
              <a:t>raises a multiplicity question with no public testing-hierarchy disclosure.</a:t>
            </a:r>
          </a:p>
        </p:txBody>
      </p:sp>
      <p:pic>
        <p:nvPicPr>
          <p:cNvPr id="4" name="Picture 3" descr="slide11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47" y="3657600"/>
            <a:ext cx="71346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03_analysis/additional_topics.md, 03_analysis/scenario_model.md.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Ianalumab validates week-48 ESSDAI as a feasible endpoint, with modest effect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EXHIBIT — INDIVIDUAL PHASE 3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09928"/>
          <a:ext cx="5715000" cy="1664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43100"/>
                <a:gridCol w="1485900"/>
                <a:gridCol w="1257300"/>
                <a:gridCol w="10287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Trial / regimen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NEPTUNUS-1, monthly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−1.3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−2.6 to 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0.0496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NEPTUNUS-2, monthly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−2.0 to 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NEPTUNUS-2, every 3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Not significant (n.s.)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246120"/>
            <a:ext cx="5715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Monthly treatment met the endpoint in both trials; less-frequent dosing did not.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Ph2b met its prespecified dose-response objective (4 of 5 models significant); the 300mg pairwise comparison alone (p≈0.092) does not define trial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1417320"/>
            <a:ext cx="5150815" cy="457200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81912"/>
            <a:ext cx="4785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FOREST PLOT — EFFECT VS. PLACEBO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47088"/>
            <a:ext cx="47850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C8C8C"/>
                </a:solidFill>
                <a:latin typeface="Calibri"/>
              </a:rPr>
              <a:t>(ESSDAI points, 95% CI)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39" y="2112264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NEPTUNUS-1</a:t>
            </a:r>
          </a:p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monthly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04832" y="2240280"/>
            <a:ext cx="1639773" cy="0"/>
          </a:xfrm>
          <a:prstGeom prst="line">
            <a:avLst/>
          </a:prstGeom>
          <a:ln w="28575">
            <a:solidFill>
              <a:srgbClr val="2E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04832" y="2185416"/>
            <a:ext cx="0" cy="109728"/>
          </a:xfrm>
          <a:prstGeom prst="line">
            <a:avLst/>
          </a:prstGeom>
          <a:ln w="19050">
            <a:solidFill>
              <a:srgbClr val="2E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44605" y="2185416"/>
            <a:ext cx="0" cy="109728"/>
          </a:xfrm>
          <a:prstGeom prst="line">
            <a:avLst/>
          </a:prstGeom>
          <a:ln w="19050">
            <a:solidFill>
              <a:srgbClr val="2E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069855" y="2185416"/>
            <a:ext cx="109728" cy="109728"/>
          </a:xfrm>
          <a:prstGeom prst="ellipse">
            <a:avLst/>
          </a:prstGeom>
          <a:solidFill>
            <a:srgbClr val="2E7D7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39" y="2660903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NEPTUNUS-2</a:t>
            </a:r>
          </a:p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monthly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83241" y="2788920"/>
            <a:ext cx="1261364" cy="0"/>
          </a:xfrm>
          <a:prstGeom prst="line">
            <a:avLst/>
          </a:prstGeom>
          <a:ln w="28575">
            <a:solidFill>
              <a:srgbClr val="2E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83241" y="2734056"/>
            <a:ext cx="0" cy="109728"/>
          </a:xfrm>
          <a:prstGeom prst="line">
            <a:avLst/>
          </a:prstGeom>
          <a:ln w="19050">
            <a:solidFill>
              <a:srgbClr val="2E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44605" y="2734056"/>
            <a:ext cx="0" cy="109728"/>
          </a:xfrm>
          <a:prstGeom prst="line">
            <a:avLst/>
          </a:prstGeom>
          <a:ln w="19050">
            <a:solidFill>
              <a:srgbClr val="2E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259059" y="2734056"/>
            <a:ext cx="109728" cy="109728"/>
          </a:xfrm>
          <a:prstGeom prst="ellipse">
            <a:avLst/>
          </a:prstGeom>
          <a:solidFill>
            <a:srgbClr val="2E7D7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39" y="3209544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NEPTUNUS-2</a:t>
            </a:r>
          </a:p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22222"/>
                </a:solidFill>
                <a:latin typeface="Calibri"/>
              </a:rPr>
              <a:t>q3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209544"/>
            <a:ext cx="2270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C8C8C"/>
                </a:solidFill>
                <a:latin typeface="Calibri"/>
              </a:rPr>
              <a:t>not significant — CI not reported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44605" y="2011680"/>
            <a:ext cx="0" cy="1554480"/>
          </a:xfrm>
          <a:prstGeom prst="line">
            <a:avLst/>
          </a:prstGeom>
          <a:ln w="12700">
            <a:solidFill>
              <a:srgbClr val="99999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52559" y="3703320"/>
            <a:ext cx="2270456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23959" y="3749039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C8C8C"/>
                </a:solidFill>
                <a:latin typeface="Calibri"/>
              </a:rPr>
              <a:t>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641" y="3749039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C8C8C"/>
                </a:solidFill>
                <a:latin typeface="Calibri"/>
              </a:rPr>
              <a:t>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5324" y="3749039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C8C8C"/>
                </a:solidFill>
                <a:latin typeface="Calibri"/>
              </a:rP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6005" y="3749039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C8C8C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4023360"/>
            <a:ext cx="2270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8C8C8C"/>
                </a:solidFill>
                <a:latin typeface="Calibri"/>
              </a:rPr>
              <a:t>← favors dazodalibep/ianalumab      favors placebo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434840"/>
            <a:ext cx="47850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222222"/>
                </a:solidFill>
                <a:latin typeface="Calibri"/>
              </a:rPr>
              <a:t>Registry lists NEPTUNUS-2 N=506; conference presentation cites N=504 — this discrepancy is unresolved, reported both rather than picking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02_research/ianalumab_competitor_analysis.md.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Same-pathway evidence supports systemic activity more clearly than universal symptom benefit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85853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20180"/>
                <a:gridCol w="3355756"/>
                <a:gridCol w="480991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contributes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Iscalimab systemic cohort, N=173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Met dose-response objective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Supports CD40 pathway plausibility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Iscalimab symptom cohort, N=100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ESSPRI −0.57; p=0.12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Symptom benefit not assured by pathway alone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Abatacept ASAP-III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Missed continuous ESSDAI primary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Plausible biology can still fail clinically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Rituximab TRACTISS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Missed symptom-VAS responder primary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Endpoint/population selection matters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Tocilizumab ETAP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Missed composite-response primary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Distinct response construct, not continuous ESSDAI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07492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ON-SLIDE TAKEAWAY: use prior trials to challenge assumptions; avoid a numerical “class success rate.”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02_research/historical_trial_evidence.md.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 1.4-point base assumption retains about two-thirds of the Phase 2 effect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571500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1143000"/>
                <a:gridCol w="1143000"/>
                <a:gridCol w="2514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Assumed benefit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Retention vs. 2.2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 marL="73152" marR="73152" marT="27432" marB="27432" anchor="ctr">
                    <a:solidFill>
                      <a:srgbClr val="E6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Most of the Phase 2 signal persists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F6E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Meaningful attenuation without loss of activity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 marL="73152" marR="73152" marT="27432" marB="27432" anchor="ctr">
                    <a:solidFill>
                      <a:srgbClr val="F7E8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Substantial attenuation via efficacy, measurement, or population differences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977639"/>
            <a:ext cx="5715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The base case is a judgment call, not a fitted or empirically estimated mean — tested across a range rather than one decimal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59" y="1417320"/>
            <a:ext cx="5150815" cy="457200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600200"/>
            <a:ext cx="4785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ASSUMED BENEFIT (ESSDAI POINTS)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95159" y="2514600"/>
            <a:ext cx="4236416" cy="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943319" y="2446020"/>
            <a:ext cx="137160" cy="137160"/>
          </a:xfrm>
          <a:prstGeom prst="ellipse">
            <a:avLst/>
          </a:prstGeom>
          <a:solidFill>
            <a:srgbClr val="B445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4699" y="26517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4453E"/>
                </a:solidFill>
                <a:latin typeface="Calibri"/>
              </a:rPr>
              <a:t>Bear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4453E"/>
                </a:solidFill>
                <a:latin typeface="Calibri"/>
              </a:rPr>
              <a:t>0.6</a:t>
            </a:r>
          </a:p>
        </p:txBody>
      </p:sp>
      <p:sp>
        <p:nvSpPr>
          <p:cNvPr id="10" name="Oval 9"/>
          <p:cNvSpPr/>
          <p:nvPr/>
        </p:nvSpPr>
        <p:spPr>
          <a:xfrm>
            <a:off x="9298972" y="2446020"/>
            <a:ext cx="137160" cy="137160"/>
          </a:xfrm>
          <a:prstGeom prst="ellipse">
            <a:avLst/>
          </a:prstGeom>
          <a:solidFill>
            <a:srgbClr val="B08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0352" y="26517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08A00"/>
                </a:solidFill>
                <a:latin typeface="Calibri"/>
              </a:rPr>
              <a:t>Base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08A00"/>
                </a:solidFill>
                <a:latin typeface="Calibri"/>
              </a:rPr>
              <a:t>1.4</a:t>
            </a:r>
          </a:p>
        </p:txBody>
      </p:sp>
      <p:sp>
        <p:nvSpPr>
          <p:cNvPr id="12" name="Oval 11"/>
          <p:cNvSpPr/>
          <p:nvPr/>
        </p:nvSpPr>
        <p:spPr>
          <a:xfrm>
            <a:off x="10315712" y="2446020"/>
            <a:ext cx="137160" cy="137160"/>
          </a:xfrm>
          <a:prstGeom prst="ellipse">
            <a:avLst/>
          </a:prstGeom>
          <a:solidFill>
            <a:srgbClr val="2E7D7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7092" y="26517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7B"/>
                </a:solidFill>
                <a:latin typeface="Calibri"/>
              </a:rPr>
              <a:t>Bull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7B"/>
                </a:solidFill>
                <a:latin typeface="Calibri"/>
              </a:rPr>
              <a:t>2.0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23205" y="2011680"/>
            <a:ext cx="0" cy="548640"/>
          </a:xfrm>
          <a:prstGeom prst="line">
            <a:avLst/>
          </a:prstGeom>
          <a:ln w="19050">
            <a:solidFill>
              <a:srgbClr val="1B2A4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08805" y="16459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Phase 2 observed: 2.2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5328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C8C"/>
                </a:solidFill>
                <a:latin typeface="Calibri"/>
              </a:rPr>
              <a:t>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3843" y="25328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C8C"/>
                </a:solidFill>
                <a:latin typeface="Calibri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1126" y="25328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C8C"/>
                </a:solidFill>
                <a:latin typeface="Calibri"/>
              </a:rPr>
              <a:t>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409" y="25328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C8C"/>
                </a:solidFill>
                <a:latin typeface="Calibri"/>
              </a:rPr>
              <a:t>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5692" y="25328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C8C"/>
                </a:solidFill>
                <a:latin typeface="Calibri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25328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C8C"/>
                </a:solidFill>
                <a:latin typeface="Calibri"/>
              </a:rPr>
              <a:t>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520440"/>
            <a:ext cx="47850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2"/>
                </a:solidFill>
                <a:latin typeface="Calibri"/>
              </a:rPr>
              <a:t>Three scenario points on the assumed-benefit axis, with Phase 2’s observed 2.2-point effect shown as a separate reference marker (not a fourth scenario).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03_analysis/scenario_model.md. Scenario weights are analyst judgment, not empirically estimated probabilities — omitted from this slide.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 i="0">
                <a:solidFill>
                  <a:srgbClr val="1B2A4A"/>
                </a:solidFill>
                <a:latin typeface="Calibri"/>
              </a:rPr>
              <a:t>The base effect has favorable power under nominal testing, but the margin narrows with stricter assumptions</a:t>
            </a:r>
          </a:p>
        </p:txBody>
      </p:sp>
      <p:pic>
        <p:nvPicPr>
          <p:cNvPr id="3" name="Picture 2" descr="slide16_pow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016203" cy="3063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992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EXHIBIT — ONE ACTIVE-DOSE COMPARISON, n=217/ARM, EFFECTIVE SD=5.47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0" y="2057400"/>
          <a:ext cx="4099254" cy="2331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39702"/>
                <a:gridCol w="1229776"/>
                <a:gridCol w="1229776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Assumed true benefit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Power @ α=0.05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Power @ illustrative α=0.025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1B2A4A"/>
                </a:solidFill>
                <a:latin typeface="Calibri"/>
              </a:rPr>
              <a:t>ON-SLIDE TAKEAWAY: statistical success remains genuinely uncertain even if the assumed biological effect is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03_analysis/scenario_model.md. SD=5.47 is a comparator-based sensitivity, not a measured dazodalibep Phase 3 SD.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Higher variance and information loss can materially weaken the same efficacy forecast</a:t>
            </a:r>
          </a:p>
        </p:txBody>
      </p:sp>
      <p:pic>
        <p:nvPicPr>
          <p:cNvPr id="3" name="Picture 2" descr="slide17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38" y="1371600"/>
            <a:ext cx="6465218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977639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EXHIBIT — ASSUMED TRUE BENEFIT FIXED AT 1.4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4251960"/>
          <a:ext cx="5715000" cy="1618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00300"/>
                <a:gridCol w="1028700"/>
                <a:gridCol w="914400"/>
                <a:gridCol w="137160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n/arm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Approx. power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SD 3.65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SD 5.00 (Ph2 planning)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SD 5.47 (ianalumab-based)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SD 5.47, stricter 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Same, reduced effective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59" y="4251960"/>
            <a:ext cx="515081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Raw sample size alone is insufficient — repeated measurement and adjustment affect precision.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Phase 3’s treatment of missing data/rescue medication is unknown and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03_analysis/scenario_model.md.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 i="0">
                <a:solidFill>
                  <a:srgbClr val="1B2A4A"/>
                </a:solidFill>
                <a:latin typeface="Calibri"/>
              </a:rPr>
              <a:t>ESSPRI evidence supports optimism; DASPRI is a new, FDA-PRO-aligned instrument with zero track record for this drug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783080"/>
          <a:ext cx="11185854" cy="3447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84605"/>
                <a:gridCol w="4474342"/>
                <a:gridCol w="402690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 available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Does DAZ improve reported symptoms?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Positive Phase 2 ESSPRI total/domain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Supports a positive ESSPRI lean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Does benefit extend to week 48?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Supportive crossover only, no parallel-group replication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Durability remains a test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What supports DASPRI?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Confirmed absent from the Phase 2 paper — searched full text, zero occurrences. DASPRI was developed as a patient-symptom diary specifically to align with FDA patient-reported-outcome guidance</a:t>
                      </a:r>
                    </a:p>
                  </a:txBody>
                  <a:tcPr marL="73152" marR="73152" marT="27432" marB="27432" anchor="ctr">
                    <a:solidFill>
                      <a:srgbClr val="F6E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No dazodalibep-specific precedent exists for this instrument at all; likely added for regulatory-alignment reasons, not because ESSPRI underperformed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What defines overall trial success?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Two co-primary outcomes; procedure not established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Do not assume both-pass or either-pass rule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650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This isn’t a research gap to close — it’s a real fact about the evidence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02_research/nct06245408_risk_note.md.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Fc-free engineering addresses a known mechanism; Phase 2 safety still warrants careful scrutiny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EXHIBIT — SELECTED SERIOUS OBSERVATIONS, NOT AN EXHAUSTIVE SAFETY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09928"/>
          <a:ext cx="11185853" cy="3246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03190"/>
                <a:gridCol w="1789736"/>
                <a:gridCol w="5592927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Attribution and precise timing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DVT and drug-induced liver injury, same participant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Population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Both investigator-attributed as related; onset 180 days after last DAZ dose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Invasive ductal breast carcinoma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Population 2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Investigator-attributed as related; onset 139 days after last dose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One death, unknown cause following COVID-19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Population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SAE reported during Stage I per the paper’s text; investigators considered it unrelated; the death itself is tabulated under the Stage II+follow-up safety window (46 days post-last-dose) in Table 3 — both facts are accurate and reported together here, not simplified to one label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12064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Three investigator-attributed serious events in two participants, plus a separately described unrelated death. Individual events in a small trial establish neither causation nor absence of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87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C8C8C"/>
                </a:solidFill>
                <a:latin typeface="Calibri"/>
              </a:rPr>
              <a:t>Denominators: Stage I systemic DAZ n=36; Stage II systemic DAZ→placebo n=34; symptomatic safety set n=48.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B2A4A"/>
                </a:solidFill>
                <a:latin typeface="Calibri"/>
              </a:rPr>
              <a:t>Our positive systemic forecast stands or falls on the prespecified primary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E6F1F0"/>
          </a:solidFill>
          <a:ln w="12700">
            <a:solidFill>
              <a:srgbClr val="2E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b="1" sz="1200">
                <a:solidFill>
                  <a:srgbClr val="2E7D7B"/>
                </a:solidFill>
                <a:latin typeface="Calibri"/>
              </a:rPr>
              <a:t>FORECAST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Expect positive ESSDAI efficacy in NCT06104124; favorable ESSPRI evidence with unresolved full-trial interpretation for NCT06245408.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331720"/>
          <a:ext cx="11185854" cy="2606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45493"/>
                <a:gridCol w="6040361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Readout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Prespecified primary procedure met, consistent dose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Confirms the forecast; assess magnitude and safety separately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Primary met, modest effect or mixed supportive outcomes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Statistical win with a more qualified clinical interpretation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Prespecified primary procedure not 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Forecast was wrong — evaluate why without redefining success post hoc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Efficacy positive, concerning safety pattern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Efficacy call may be right while benefit-risk remains unfavorable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166360"/>
            <a:ext cx="1118585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2"/>
                </a:solidFill>
                <a:latin typeface="Calibri"/>
              </a:rPr>
              <a:t>Registry export: systemic primary completion July 23, 2026; study completion August 17, 2026 (both actual). Symptomatic: primary completion est. October 22, 2026; study completion est. December 17, 2026. Completion is not disclosure — no specific announcement date is established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01_data/, 03_analysis/final_thesis.md.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Appendix 1 — Registry facts and unresolved design 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85854" cy="3474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08322"/>
                <a:gridCol w="4138766"/>
                <a:gridCol w="4138766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Systemic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Symptomatic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NCT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NCT06104124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NCT06245408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Enrollment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651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434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Active, not recruiting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Primary outcomes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ESSDAI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ESSPRI; DASPRI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Primary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Week 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Week 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Primary completion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2026-07-23 (actual)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2026-10-22 (estimated)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Study completion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2026-08-17 (actual)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2026-12-17 (estimated)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16636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1B2A4A"/>
                </a:solidFill>
                <a:latin typeface="Calibri"/>
              </a:rPr>
              <a:t>Fields not represented by the registry export: arm doses/frequency, allocation ratio, full eligibility text, background-treatment stability, rescue rules, complete outcome definitions, protocol/SAP, analysis population, actual/estimated date flags beyond what’s shown. Do not present this table as a complete protocol abstraction.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01_data/NCT06104124.csv, 01_data/NCT06245408.csv.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 i="0">
                <a:solidFill>
                  <a:srgbClr val="1B2A4A"/>
                </a:solidFill>
                <a:latin typeface="Calibri"/>
              </a:rPr>
              <a:t>Appendix 2 — Baseline characteristics (verified directly against Table 1, page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691640"/>
          <a:ext cx="11185853" cy="24505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79473"/>
                <a:gridCol w="1901595"/>
                <a:gridCol w="1901595"/>
                <a:gridCol w="1901595"/>
                <a:gridCol w="190159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Characteristic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Pop 1</a:t>
                      </a:r>
                    </a:p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Placebo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Pop 1</a:t>
                      </a:r>
                    </a:p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DAZ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Pop 2</a:t>
                      </a:r>
                    </a:p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Placebo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Pop 2</a:t>
                      </a:r>
                    </a:p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DAZ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Baseline ESSDAI, mean (SD)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10.1 (4.1)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11.4 (4.5)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2.5 (1.6)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3.1 (1.8)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Baseline ESSPRI 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6.6 (1.8)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6.6 (1.6)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7.1 (1.1)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7.5 (1.5)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Dryness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6.9 (2.3)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7.3 (1.7)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6.8 (1.2)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7.1 (1.6)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Fatigue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6.8 (2.2)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7.0 (1.7)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6.8 (1.8)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7.1 (1.8)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Pain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6.1 (2.3)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5.5 (3.0)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6.3 (1.9)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6.6 (2.6)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OSDI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40.0 (20.9)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48.7 (25.0)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48.6 (19.2)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48.2 (23.8)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Stimulated salivary flow, mL/min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0.97 (0.85)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0.88 (0.64)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0.83 (0.83)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1.10 (1.18)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Concomitant RA/SLE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9 (23.7%)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 (19.4%)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 (12.7%)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 (7.4%)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4348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Schirmer’s criterion: ≤5mm/5min in at least one eye (corrected from an earlier transcription error — this direction is confirmed against the source).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222222"/>
                </a:solidFill>
                <a:latin typeface="Calibri"/>
              </a:rPr>
              <a:t>Provenance: values re-verified directly against the rendered Table 1 image three separate times across this project’s review history, after two external reviews proposed alternate Pop. 2 ESSPRI-total/Dryness/OSDI/salivary-flow values. Each re-check matched the values above, not the proposed alternates (which appear to reflect a row-transposition error repeated across both reviews). Use the values above.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Relevant background therapy: Population 1 had 59.5% antimalarial, 41.9% glucocorticoid, 31.1% conventional DMARD use overall. Population 2 cholinergic agonist use differed: 11.1% DAZ vs. 27.3% placebo.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02_research/phase2_baseline_characteristics.md, verified against 00_reference/phase2_paper.pdf Table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Appendix 3 — Supportive outcomes and domain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85853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55756"/>
                <a:gridCol w="2460888"/>
                <a:gridCol w="3355756"/>
                <a:gridCol w="2013453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Day-169 outcome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DAZ / Placebo change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ESSPRI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Systemic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−1.8 / −1.1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0.1110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FACIT-Fatigue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Systemic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+8.1 / +5.8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0.3028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FACIT-Fatigue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Symptomatic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+8.1 / +2.8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0.0095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OSDI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Systemic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−16.00 / −14.02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0.6583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OSDI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Symptomatic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−13.95 / −8.52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0.1936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Stimulated salivary flow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Systemic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+0.39 / +0.14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0.1330</a:t>
                      </a:r>
                    </a:p>
                  </a:txBody>
                  <a:tcPr marL="73152" marR="73152" marT="27432" marB="27432" anchor="ctr">
                    <a:solidFill>
                      <a:srgbClr val="F4F4F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Stimulated salivary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Symptomatic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+0.20 / −0.01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0.2170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21208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B2A4A"/>
                </a:solidFill>
                <a:latin typeface="Calibri"/>
              </a:rPr>
              <a:t>These are unadjusted supportive/exploratory p-values. Positive FACIT change = improvement; negative OSDI/ESSPRI change =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Appendix 4 — Reproducible statistical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2222"/>
                </a:solidFill>
                <a:latin typeface="Calibri"/>
              </a:rPr>
              <a:t>delta = assumed true positive treatment benefit;  n = per-arm sample size;  sigma = assumed effective SD.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1185855" cy="123444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901952"/>
            <a:ext cx="10783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A4A"/>
                </a:solidFill>
                <a:latin typeface="Courier New"/>
              </a:rPr>
              <a:t>SE = sigma * sqrt(2 / n)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A4A"/>
                </a:solidFill>
                <a:latin typeface="Courier New"/>
              </a:rPr>
              <a:t>critical_z = inverse_normal_cdf(1 - alpha/2)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A4A"/>
                </a:solidFill>
                <a:latin typeface="Courier New"/>
              </a:rPr>
              <a:t>power(delta) = normal_cdf(delta/SE - critical_z)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A4A"/>
                </a:solidFill>
                <a:latin typeface="Courier New"/>
              </a:rPr>
              <a:t>effect_for_80_percent_power ≈ (critical_z + inverse_normal_cdf(0.80)) * 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200400"/>
          <a:ext cx="11185853" cy="17099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54161"/>
                <a:gridCol w="1454161"/>
                <a:gridCol w="1454161"/>
                <a:gridCol w="1677878"/>
                <a:gridCol w="2572746"/>
                <a:gridCol w="2572746"/>
              </a:tblGrid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Alpha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Observed</a:t>
                      </a:r>
                    </a:p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Effect for</a:t>
                      </a:r>
                    </a:p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~80% power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3.65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0.687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0.480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0.941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1.345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1.029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1.471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1.177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1.619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0.570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1.278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1.758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222"/>
                </a:solidFill>
                <a:latin typeface="Calibri"/>
              </a:rPr>
              <a:t>Input provenance: 3.65 from dazodalibep’s own Phase 2 SEs (approximate back-calculation); 5.00 is the Phase 2 protocol’s own planning SD; 5.47 is the effective SD implied by NEPTUNUS-1’s reported SE. None is the actual, undisclosed dazodalibep Phase 3 variance.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7900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Interpretive rule: an assumed true delta produces conditional power, not a guaranteed p-value. NEPTUNUS-1’s SE scaled only for sample size (0.66×√(137/217)=0.524) implies that an observed 1.3-point difference would carry p≈0.013 at dazodalibep’s assumed N — a precision-scaling illustration, not a forecast.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03_analysis/scenario_model.md.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A4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Appendix 5 — Expanded comparator and safety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222222"/>
                </a:solidFill>
                <a:latin typeface="Calibri"/>
              </a:rPr>
              <a:t>This is a pointer slide: the underlying material is too extensive to reproduce legibly here. Each item below is pulled directly from its source file for the full detail.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3515258" cy="329184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542032"/>
            <a:ext cx="311292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Calibri"/>
              </a:rPr>
              <a:t>Ianalumab — full arm-by-arm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429000"/>
            <a:ext cx="311292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Ph2b dose-response model plus individual pairwise arms, and both NEPTUNUS trials, including the every-3-months miss.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074920"/>
            <a:ext cx="3112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02_research/ianalumab_competitor_analysis.md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2331720"/>
            <a:ext cx="3515258" cy="329184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2542032"/>
            <a:ext cx="311292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Calibri"/>
              </a:rPr>
              <a:t>Historical evidence — complete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386" y="3429000"/>
            <a:ext cx="311292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TRACTISS, ETAP, and ASAP-III, with corrected endpoint classifications.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386" y="5074920"/>
            <a:ext cx="3112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02_research/historical_trial_evidence.md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3516" y="2331720"/>
            <a:ext cx="3515258" cy="3291840"/>
          </a:xfrm>
          <a:prstGeom prst="roundRect">
            <a:avLst>
              <a:gd name="adj" fmla="val 4500"/>
            </a:avLst>
          </a:prstGeom>
          <a:solidFill>
            <a:srgbClr val="F4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4684" y="2542032"/>
            <a:ext cx="311292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Calibri"/>
              </a:rPr>
              <a:t>Phase 2 safety — full AE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4684" y="3429000"/>
            <a:ext cx="311292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All adverse events, not only the headline SAEs discussed on Slide 19.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4684" y="5074920"/>
            <a:ext cx="3112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02_research/phase2_results.md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02_research/ianalumab_competitor_analysis.md, 02_research/historical_trial_evidence.md, 02_research/phase2_results.md.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A5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Appendix 6 — Source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7150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St. Clair EW et al. </a:t>
            </a:r>
            <a:r>
              <a:rPr b="0" sz="1150">
                <a:solidFill>
                  <a:srgbClr val="222222"/>
                </a:solidFill>
                <a:latin typeface="Calibri"/>
              </a:rPr>
              <a:t>CD40 ligand antagonist dazodalibep in Sjögren’s disease: a randomized, double-blinded, placebo-controlled, phase 2 trial. Nature Medicine 30, 1583–1592 (2024). DOI: 10.1038/s41591-024-03009-3. Open access (CC-BY 4.0). Local: 00_reference/phase2_paper.pdf.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ClinicalTrials.gov, NCT06104124 — </a:t>
            </a:r>
            <a:r>
              <a:rPr b="0" sz="1150">
                <a:solidFill>
                  <a:srgbClr val="222222"/>
                </a:solidFill>
                <a:latin typeface="Calibri"/>
              </a:rPr>
              <a:t>systemic Phase 3. Local: 01_data/NCT06104124.csv.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ClinicalTrials.gov, NCT06245408 — </a:t>
            </a:r>
            <a:r>
              <a:rPr b="0" sz="1150">
                <a:solidFill>
                  <a:srgbClr val="222222"/>
                </a:solidFill>
                <a:latin typeface="Calibri"/>
              </a:rPr>
              <a:t>symptomatic Phase 3. Local: 01_data/NCT06245408.csv.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Bowman SJ et al. </a:t>
            </a:r>
            <a:r>
              <a:rPr b="0" sz="1150">
                <a:solidFill>
                  <a:srgbClr val="222222"/>
                </a:solidFill>
                <a:latin typeface="Calibri"/>
              </a:rPr>
              <a:t>Safety and efficacy of subcutaneous ianalumab in primary Sjögren’s syndrome: phase 2b dose-finding trial. Lancet 399, 161–171 (2022; online 2021). PMID 34861168.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Fisher BA et al. </a:t>
            </a:r>
            <a:r>
              <a:rPr b="0" sz="1150">
                <a:solidFill>
                  <a:srgbClr val="222222"/>
                </a:solidFill>
                <a:latin typeface="Calibri"/>
              </a:rPr>
              <a:t>Safety and efficacy of subcutaneous iscalimab in two distinct populations of patients with Sjögren’s disease (TWINSS). Lancet (2024). PMID 39096929.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Novartis Immunology Pipeline Event, </a:t>
            </a:r>
            <a:r>
              <a:rPr b="0" sz="1150">
                <a:solidFill>
                  <a:srgbClr val="222222"/>
                </a:solidFill>
                <a:latin typeface="Calibri"/>
              </a:rPr>
              <a:t>Oct 2025 — NEPTUNUS individual-arm efficacy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59" y="1417320"/>
            <a:ext cx="515081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Seror R et al. </a:t>
            </a:r>
            <a:r>
              <a:rPr b="0" sz="1150">
                <a:solidFill>
                  <a:srgbClr val="222222"/>
                </a:solidFill>
                <a:latin typeface="Calibri"/>
              </a:rPr>
              <a:t>ESSDAI/ESSPRI MCID and disease-activity states, Ann Rheum Dis.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Der K et al. </a:t>
            </a:r>
            <a:r>
              <a:rPr b="0" sz="1150">
                <a:solidFill>
                  <a:srgbClr val="222222"/>
                </a:solidFill>
                <a:latin typeface="Calibri"/>
              </a:rPr>
              <a:t>Population PK/PD modeling of dazodalibep. ACR Convergence 2023 abstract.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Felten et al., ETAP. </a:t>
            </a:r>
            <a:r>
              <a:rPr b="0" sz="1150">
                <a:solidFill>
                  <a:srgbClr val="222222"/>
                </a:solidFill>
                <a:latin typeface="Calibri"/>
              </a:rPr>
              <a:t>Interleukin-6 receptor inhibition in primary Sjögren syndrome. PMID 33208345. Note: verify the “p=0.14” figure against this primary source before final use — flagged as unconfirmed, see 02_research/historical_trial_evidence.md.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van Nimwegen et al., ASAP-III. </a:t>
            </a:r>
            <a:r>
              <a:rPr b="0" sz="1150">
                <a:solidFill>
                  <a:srgbClr val="222222"/>
                </a:solidFill>
                <a:latin typeface="Calibri"/>
              </a:rPr>
              <a:t>Primary randomized trial, Lancet Rheumatology.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b="1" sz="1150">
                <a:solidFill>
                  <a:srgbClr val="222222"/>
                </a:solidFill>
                <a:latin typeface="Calibri"/>
              </a:rPr>
              <a:t>•  TRACTISS </a:t>
            </a:r>
            <a:r>
              <a:rPr b="0" sz="1150">
                <a:solidFill>
                  <a:srgbClr val="222222"/>
                </a:solidFill>
                <a:latin typeface="Calibri"/>
              </a:rPr>
              <a:t>primary trial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C8C"/>
                </a:solidFill>
                <a:latin typeface="Calibri"/>
              </a:rPr>
              <a:t>Source: Full citation list compiled across 00_reference/, 02_research/, and 03_analysis/.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8C8C"/>
                </a:solidFill>
                <a:latin typeface="Calibri"/>
              </a:rPr>
              <a:t>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