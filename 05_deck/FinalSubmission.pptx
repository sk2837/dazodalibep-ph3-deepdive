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55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DEEP DIVE ON AMGEN’S PHASE 3 PROGRAM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2406253"/>
            <a:ext cx="15716250" cy="943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040"/>
              </a:lnSpc>
              <a:buNone/>
            </a:pPr>
            <a:r>
              <a:rPr lang="en-US" sz="6600" b="1" kern="0" spc="-132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Dazodalibep in Sjögren’s disease: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047750" y="3692500"/>
            <a:ext cx="14668500" cy="667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3250"/>
              </a:lnSpc>
              <a:buNone/>
            </a:pPr>
            <a:r>
              <a:rPr lang="en-US" sz="4200" dirty="0">
                <a:solidFill>
                  <a:srgbClr val="C9D2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 the Phase 3 readout, and what could move it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047750" y="4702894"/>
            <a:ext cx="1714500" cy="5715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5932884"/>
            <a:ext cx="2362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98315" y="5932884"/>
            <a:ext cx="100332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7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forecast: NCT06104124 — systemic disease activity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" y="6447234"/>
            <a:ext cx="2362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98315" y="6447234"/>
            <a:ext cx="89771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7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Supporting assessment: NCT06245408 — symptom burden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50" y="6961584"/>
            <a:ext cx="2362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98315" y="6961584"/>
            <a:ext cx="61607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7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 cutoff: September 15, 2026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47750" y="7475934"/>
            <a:ext cx="2362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98315" y="7475934"/>
            <a:ext cx="112654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7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 by: Sai Adarsh Kasula, Data Scientist / Biostatistician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47750" y="8991600"/>
            <a:ext cx="16192500" cy="9525"/>
          </a:xfrm>
          <a:prstGeom prst="rect">
            <a:avLst/>
          </a:prstGeom>
          <a:solidFill>
            <a:srgbClr val="2E3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47750" y="9229725"/>
            <a:ext cx="16678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Jefferies assignment brief.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expect NCT06104124 to meet its ESSDAI primary endpoint, with meaningful residual risk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445246"/>
            <a:ext cx="247724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14524" y="2445246"/>
            <a:ext cx="8277897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478"/>
              </a:lnSpc>
              <a:buNone/>
            </a:pPr>
            <a:r>
              <a:rPr lang="en-US" sz="22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clinical evidence: Phase 2 showed a −2.2-point adjusted ESSDAI difference at day 169; p=0.0167.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3561457"/>
            <a:ext cx="247724" cy="125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14524" y="3561457"/>
            <a:ext cx="8277897" cy="125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478"/>
              </a:lnSpc>
              <a:buNone/>
            </a:pPr>
            <a:r>
              <a:rPr lang="en-US" sz="22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coherence: CD40L blockade reduced immune biomarkers (CXCL13, RF); iscalimab provides additional pathway evidence.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14400" y="5083373"/>
            <a:ext cx="247724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14524" y="5083373"/>
            <a:ext cx="8277897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478"/>
              </a:lnSpc>
              <a:buNone/>
            </a:pPr>
            <a:r>
              <a:rPr lang="en-US" sz="22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Confirmatory precedent: ianalumab demonstrated that week-48 ESSDAI benefit can be detected in Phase 3.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400" y="6313884"/>
            <a:ext cx="57150" cy="1717104"/>
          </a:xfrm>
          <a:prstGeom prst="rect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76350" y="6390084"/>
            <a:ext cx="88824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RISK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76350" y="6818709"/>
            <a:ext cx="8317217" cy="1174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smaller week-48 effect combined with higher variance or stricter multiplicity testing could turn an encouraging signal into a negative primary result.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037118" y="2883396"/>
            <a:ext cx="1947788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37118" y="2445246"/>
            <a:ext cx="17953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84906" y="2883396"/>
            <a:ext cx="211016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984906" y="2445246"/>
            <a:ext cx="19577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095065" y="2883396"/>
            <a:ext cx="327846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095065" y="2445246"/>
            <a:ext cx="33768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 / BOUNDARY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37118" y="4444454"/>
            <a:ext cx="194778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37118" y="3131046"/>
            <a:ext cx="1795388" cy="1122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 trial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1984906" y="4444454"/>
            <a:ext cx="211016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984906" y="3131046"/>
            <a:ext cx="1957760" cy="1122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 positive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4095065" y="4444454"/>
            <a:ext cx="327846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095065" y="3131046"/>
            <a:ext cx="3376814" cy="1122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analyst forecast; stress-tested below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0037118" y="5991225"/>
            <a:ext cx="194778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37118" y="4682579"/>
            <a:ext cx="1795388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Symptomatic trial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984906" y="5991225"/>
            <a:ext cx="211016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984906" y="4682579"/>
            <a:ext cx="195776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ESSPRI lean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4095065" y="5991225"/>
            <a:ext cx="327846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4095065" y="4682579"/>
            <a:ext cx="3376814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DASPRI and full success-rule uncertainty limit conviction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03_analysis/final_thesis.md; analyst assessment. No numerically calibrated program probability is claimed.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083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317756"/>
            <a:ext cx="11906123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program tests two distinct clinical questions at week 48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6096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146548"/>
            <a:ext cx="4279329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93729" y="2146548"/>
            <a:ext cx="6089898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93729" y="1708398"/>
            <a:ext cx="59677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Systemic: NCT06104124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283628" y="2146548"/>
            <a:ext cx="6089972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283628" y="1708398"/>
            <a:ext cx="62726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Symptomatic: NCT06245408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760911"/>
            <a:ext cx="427932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289423"/>
            <a:ext cx="410290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focus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193729" y="2760911"/>
            <a:ext cx="608989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29" y="2289423"/>
            <a:ext cx="596779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Moderate-to-severe systemic activity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283628" y="2760911"/>
            <a:ext cx="6089972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283628" y="2289423"/>
            <a:ext cx="627267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symptoms with limited systemic activity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3360986"/>
            <a:ext cx="427932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2894261"/>
            <a:ext cx="41029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eligibility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193729" y="3360986"/>
            <a:ext cx="608989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93729" y="2894261"/>
            <a:ext cx="5967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ESSDAI ≥5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283628" y="3360986"/>
            <a:ext cx="6089972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283628" y="2894261"/>
            <a:ext cx="627267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ESSPRI ≥5; ESSDAI &lt;5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14400" y="3961061"/>
            <a:ext cx="427932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3494336"/>
            <a:ext cx="41029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193729" y="3961061"/>
            <a:ext cx="608989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93729" y="3494336"/>
            <a:ext cx="5967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651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1283628" y="3961061"/>
            <a:ext cx="6089972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283628" y="3494336"/>
            <a:ext cx="627267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434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14400" y="4561136"/>
            <a:ext cx="427932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4094411"/>
            <a:ext cx="41029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outcomes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5193729" y="4561136"/>
            <a:ext cx="608989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93729" y="4094411"/>
            <a:ext cx="5967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ESSDAI change from baseline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1283628" y="4561136"/>
            <a:ext cx="6089972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283628" y="4094411"/>
            <a:ext cx="627267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ESSPRI AND DASPRI change from baseline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14400" y="5161211"/>
            <a:ext cx="427932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4400" y="4694486"/>
            <a:ext cx="41029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assessment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5193729" y="5161211"/>
            <a:ext cx="608989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93729" y="4694486"/>
            <a:ext cx="5967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48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1283628" y="5161211"/>
            <a:ext cx="6089972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283628" y="4694486"/>
            <a:ext cx="627267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48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914400" y="6104186"/>
            <a:ext cx="427932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14400" y="5294561"/>
            <a:ext cx="410290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5193729" y="6104186"/>
            <a:ext cx="608989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193729" y="5294561"/>
            <a:ext cx="59677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Completed, primary completion 2026-07-23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11283628" y="6104186"/>
            <a:ext cx="6089972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1283628" y="5294561"/>
            <a:ext cx="627267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Active, not recruiting; primary completion est. 2026-10-22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914400" y="6704261"/>
            <a:ext cx="427932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14400" y="6237536"/>
            <a:ext cx="41029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5193729" y="6704261"/>
            <a:ext cx="608989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193729" y="6237536"/>
            <a:ext cx="5967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efficacy forecast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11283628" y="6704261"/>
            <a:ext cx="6089972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1283628" y="6237536"/>
            <a:ext cx="627267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supporting assessment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4400" y="7061448"/>
            <a:ext cx="1471612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“Positive” means success under the prespecified primary testing procedure. Statistical significance, clinical importance, and benefit-risk are assessed separately.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914400" y="9008864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4400" y="9227939"/>
            <a:ext cx="16952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01_data/NCT06104124.csv, 01_data/NCT06245408.csv. Full eligibility/testing details require the protocol, not available publicly.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Reducing systemic activity and improving dryness, fatigue and pain are related but separate tests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407146"/>
            <a:ext cx="163449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ESSDAI: clinician-assessed systemic disease activity across weighted organ domains.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951931"/>
            <a:ext cx="163449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ESSPRI/DASPRI: patient-reported dryness, fatigue, and pain.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496717"/>
            <a:ext cx="163449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 can reflect several processes; immune suppression need not produce the same benefit in every domain.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327252"/>
            <a:ext cx="6610350" cy="3006923"/>
          </a:xfrm>
          <a:prstGeom prst="rect">
            <a:avLst/>
          </a:prstGeom>
          <a:solidFill>
            <a:srgbClr val="F1EF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4327252"/>
            <a:ext cx="6610350" cy="47625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76350" y="4698727"/>
            <a:ext cx="64750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Systemic activity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76350" y="5227365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/ musculoskeletal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6350" y="5701680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Glandular / hematologic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76350" y="6175995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Cutaneous, renal, pulmonary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6350" y="6650310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Clinician-scored domains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905750" y="5379244"/>
            <a:ext cx="2476500" cy="9525"/>
          </a:xfrm>
          <a:prstGeom prst="rect">
            <a:avLst/>
          </a:prstGeom>
          <a:solidFill>
            <a:srgbClr val="B9B2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08590" y="5522119"/>
            <a:ext cx="227082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overlap (not equivalent)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905750" y="6272659"/>
            <a:ext cx="2476500" cy="9525"/>
          </a:xfrm>
          <a:prstGeom prst="rect">
            <a:avLst/>
          </a:prstGeom>
          <a:solidFill>
            <a:srgbClr val="B9B2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763250" y="4339284"/>
            <a:ext cx="6610350" cy="3006923"/>
          </a:xfrm>
          <a:prstGeom prst="rect">
            <a:avLst/>
          </a:prstGeom>
          <a:solidFill>
            <a:srgbClr val="F1EF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763250" y="4327252"/>
            <a:ext cx="6610350" cy="47625"/>
          </a:xfrm>
          <a:prstGeom prst="rect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125200" y="4698727"/>
            <a:ext cx="64750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symptoms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125200" y="5227365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Dryness (eyes, mouth)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125200" y="5701680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125200" y="6175995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1125200" y="6650310"/>
            <a:ext cx="6475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Patient-reported diary/questionnaire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14400" y="8818364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9037439"/>
            <a:ext cx="16952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02_research/phase2_baseline_characteristics.md. The gland-function point is clinical interpretation, not proven explanation.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CD40L blockade interrupts immune-cell costimulation implicated in Sjögren’s disease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369046"/>
            <a:ext cx="167640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CD40L–CD40 signaling supports T-cell/B-cell interactions and downstream immune activation.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14400" y="2881461"/>
            <a:ext cx="167640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Dazodalibep blocks the ligand (CD40L); </a:t>
            </a:r>
            <a:r>
              <a:rPr lang="en-US" sz="2025" dirty="0" err="1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iscalimab</a:t>
            </a: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targets the receptor (CD40).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914400" y="3393877"/>
            <a:ext cx="156972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Fc-free Tn3-scaffold design is engineered to avoid the Fc-mediated platelet-crosslinking mechanism implicated in first-generation anti-CD40L antibody thromboembolism.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14400" y="5454476"/>
            <a:ext cx="4284390" cy="1543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54934" y="5854526"/>
            <a:ext cx="380332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FAF9F6"/>
                </a:solidFill>
                <a:highlight>
                  <a:srgbClr val="17233D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T-cell </a:t>
            </a:r>
            <a:r>
              <a:rPr lang="en-US" sz="1950" dirty="0">
                <a:solidFill>
                  <a:srgbClr val="A9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(CD40L)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160690" y="5423148"/>
            <a:ext cx="1885950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800" kern="0" spc="108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DAZODALIBEP blocks CD40L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98790" y="6509817"/>
            <a:ext cx="1809750" cy="28575"/>
          </a:xfrm>
          <a:prstGeom prst="rect">
            <a:avLst/>
          </a:prstGeom>
          <a:solidFill>
            <a:srgbClr val="415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rot="2700000">
            <a:off x="5941740" y="6476479"/>
            <a:ext cx="323850" cy="9525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rot="-2700000">
            <a:off x="5941740" y="6476479"/>
            <a:ext cx="323850" cy="9525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110" y="6733654"/>
            <a:ext cx="1961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costimulation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008540" y="5454476"/>
            <a:ext cx="4651921" cy="1543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43561" y="5854526"/>
            <a:ext cx="418187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FAF9F6"/>
                </a:solidFill>
                <a:highlight>
                  <a:srgbClr val="17233D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B-cell / APC / epithelial cell </a:t>
            </a:r>
            <a:r>
              <a:rPr lang="en-US" sz="1950" dirty="0">
                <a:solidFill>
                  <a:srgbClr val="A9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(CD40)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1660460" y="6211714"/>
            <a:ext cx="1428750" cy="28575"/>
          </a:xfrm>
          <a:prstGeom prst="rect">
            <a:avLst/>
          </a:prstGeom>
          <a:solidFill>
            <a:srgbClr val="415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089210" y="5454476"/>
            <a:ext cx="4284390" cy="1543050"/>
          </a:xfrm>
          <a:prstGeom prst="rect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329745" y="5854526"/>
            <a:ext cx="380332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Antibody production, germinal center formation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7295629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88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ISCALIMAB blocks CD40 (receptor side)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7686154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Ianalumab acts elsewhere: B-cell depletion + BAFF-R blockade, not the CD40/CD40L handshake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PROJECT_STATUS.md Section 2; 02_research/phase2_results.md (Tn3 scaffold, not “PASylated”).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provides two randomized efficacy tests, followed by a blinded treatment switch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807196"/>
            <a:ext cx="3161928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76328" y="2807196"/>
            <a:ext cx="2109043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76328" y="2369046"/>
            <a:ext cx="19185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 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85371" y="2807196"/>
            <a:ext cx="3050009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85371" y="2369046"/>
            <a:ext cx="31415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 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507284"/>
            <a:ext cx="316192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997696"/>
            <a:ext cx="299008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N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4076328" y="3507284"/>
            <a:ext cx="21090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76328" y="2997696"/>
            <a:ext cx="191854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185371" y="3507284"/>
            <a:ext cx="305000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85371" y="2950071"/>
            <a:ext cx="314150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4193084"/>
            <a:ext cx="316192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688259"/>
            <a:ext cx="29900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Dazodalibep / placebo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4076328" y="4193084"/>
            <a:ext cx="21090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76328" y="3688259"/>
            <a:ext cx="19185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38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6185371" y="4193084"/>
            <a:ext cx="305000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85371" y="3640634"/>
            <a:ext cx="314150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/ 55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14400" y="5491683"/>
            <a:ext cx="316192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374059"/>
            <a:ext cx="2990086" cy="984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entry criteria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4076328" y="5491683"/>
            <a:ext cx="21090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76328" y="4374059"/>
            <a:ext cx="1918543" cy="984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508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ESSDAI ≥5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6185371" y="5491683"/>
            <a:ext cx="305000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85371" y="4326434"/>
            <a:ext cx="3141509" cy="1079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9508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ESSPRI ≥5, ESSDAI &lt;5, stimulated flow ≥0.1 mL/min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914400" y="6885533"/>
            <a:ext cx="316192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5672658"/>
            <a:ext cx="2990086" cy="1079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outcome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4076328" y="6885533"/>
            <a:ext cx="21090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76328" y="5672658"/>
            <a:ext cx="1918543" cy="1079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ESSDAI change, day 169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6185371" y="6885533"/>
            <a:ext cx="305000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85371" y="5625033"/>
            <a:ext cx="3141509" cy="1174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ESSPRI change, day 169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914400" y="7571333"/>
            <a:ext cx="316192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4400" y="7066508"/>
            <a:ext cx="29900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I completion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4076328" y="7571333"/>
            <a:ext cx="21090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76328" y="7066508"/>
            <a:ext cx="19185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71/74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6185371" y="7571333"/>
            <a:ext cx="305000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85371" y="7018883"/>
            <a:ext cx="314150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102/109</a:t>
            </a:r>
            <a:endParaRPr lang="en-US" sz="2025" dirty="0"/>
          </a:p>
        </p:txBody>
      </p:sp>
      <p:sp>
        <p:nvSpPr>
          <p:cNvPr id="40" name="Text 38"/>
          <p:cNvSpPr/>
          <p:nvPr/>
        </p:nvSpPr>
        <p:spPr>
          <a:xfrm>
            <a:off x="9844980" y="2369046"/>
            <a:ext cx="8281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ANALYSIS AT DAY 169, THEN SWITCH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844980" y="3126284"/>
            <a:ext cx="17811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PBO → DAZ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1654730" y="2911971"/>
            <a:ext cx="2630612" cy="685800"/>
          </a:xfrm>
          <a:prstGeom prst="rect">
            <a:avLst/>
          </a:prstGeom>
          <a:solidFill>
            <a:srgbClr val="C9C4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1615271" y="2911971"/>
            <a:ext cx="27095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Placebo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4285342" y="2911971"/>
            <a:ext cx="19050" cy="685800"/>
          </a:xfrm>
          <a:prstGeom prst="rect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4304392" y="2911971"/>
            <a:ext cx="3069134" cy="68580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4258355" y="2911971"/>
            <a:ext cx="316120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Dazodalibep 1,500mg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844980" y="4021634"/>
            <a:ext cx="17811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DAZ → PBO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1654730" y="3807321"/>
            <a:ext cx="2630612" cy="68580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1615271" y="3807321"/>
            <a:ext cx="27095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Dazodalibep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4285342" y="3807321"/>
            <a:ext cx="19050" cy="685800"/>
          </a:xfrm>
          <a:prstGeom prst="rect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4304392" y="3807321"/>
            <a:ext cx="3069134" cy="685800"/>
          </a:xfrm>
          <a:prstGeom prst="rect">
            <a:avLst/>
          </a:prstGeom>
          <a:solidFill>
            <a:srgbClr val="C9C4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4258355" y="3807321"/>
            <a:ext cx="316120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Placebo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1654730" y="4702671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3896901" y="4702671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169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6413361" y="4702671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365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9844980" y="5245596"/>
            <a:ext cx="828140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Crossover data used for durability check only, not primary efficacy.</a:t>
            </a:r>
            <a:endParaRPr lang="en-US" sz="1950" dirty="0"/>
          </a:p>
        </p:txBody>
      </p:sp>
      <p:sp>
        <p:nvSpPr>
          <p:cNvPr id="57" name="Shape 55"/>
          <p:cNvSpPr/>
          <p:nvPr/>
        </p:nvSpPr>
        <p:spPr>
          <a:xfrm>
            <a:off x="9844980" y="5839941"/>
            <a:ext cx="57150" cy="1080046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168830" y="5839941"/>
            <a:ext cx="7430551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IV regimen 1,500mg every 2 weeks for 3 doses, then every 4 weeks for 4 doses. No dose-ranging in this Sjögren’s study.</a:t>
            </a:r>
            <a:endParaRPr lang="en-US" sz="2025" dirty="0"/>
          </a:p>
        </p:txBody>
      </p:sp>
      <p:sp>
        <p:nvSpPr>
          <p:cNvPr id="59" name="Shape 57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02_research/phase2_paper_explained.md,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07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445704"/>
            <a:ext cx="15344544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Dazodalibep produced greater ESSDAI improvement than placebo in Phase 2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298948"/>
            <a:ext cx="3276154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60798"/>
            <a:ext cx="31458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DAY-169 CHANGE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90554" y="2298948"/>
            <a:ext cx="2466826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354" y="1860798"/>
            <a:ext cx="23144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Dazodalibep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57380" y="2298948"/>
            <a:ext cx="218182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1180" y="1860798"/>
            <a:ext cx="22580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Placebo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146673"/>
            <a:ext cx="327615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546598"/>
            <a:ext cx="31458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mean ± SE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4190554" y="3146673"/>
            <a:ext cx="246682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354" y="2546598"/>
            <a:ext cx="231442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55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−6.3 ±0.6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6657380" y="3146673"/>
            <a:ext cx="218182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1180" y="2546598"/>
            <a:ext cx="22580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5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−4.1 ±0.6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3465761"/>
            <a:ext cx="7924800" cy="1819275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95400" y="3808661"/>
            <a:ext cx="7879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ADJUSTED DIFFERENCE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95400" y="4218236"/>
            <a:ext cx="787908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372"/>
              </a:lnSpc>
              <a:buNone/>
            </a:pPr>
            <a:r>
              <a:rPr lang="en-US" sz="57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−2.2 points</a:t>
            </a:r>
            <a:endParaRPr lang="en-US" sz="5700" dirty="0"/>
          </a:p>
        </p:txBody>
      </p:sp>
      <p:sp>
        <p:nvSpPr>
          <p:cNvPr id="20" name="Text 18"/>
          <p:cNvSpPr/>
          <p:nvPr/>
        </p:nvSpPr>
        <p:spPr>
          <a:xfrm>
            <a:off x="914400" y="5589836"/>
            <a:ext cx="816254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90% CI approximately −3.6 to −0.7; p=0.0167. This is a 90% CI not the 95% CI used elsewhere in this deck.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4400" y="6588026"/>
            <a:ext cx="871728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prespecified primary result supports systemic efficacy.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14400" y="7100441"/>
            <a:ext cx="816254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trial used two-sided α=0.10 (small-N caution); this result also clears standard 0.05.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914400" y="7972871"/>
            <a:ext cx="871728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sample size leaves uncertainty about the reproducible effect.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448800" y="1860798"/>
            <a:ext cx="7924800" cy="6472089"/>
          </a:xfrm>
          <a:prstGeom prst="rect">
            <a:avLst/>
          </a:prstGeom>
          <a:solidFill>
            <a:srgbClr val="F1EF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48850" y="2222748"/>
            <a:ext cx="78371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THE EVIDENCE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48850" y="2727573"/>
            <a:ext cx="7338441" cy="7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ESSDAI = worse disease; a larger negative change = more improvement.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9848850" y="3667423"/>
            <a:ext cx="7338441" cy="1133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arms improved from baseline; the placebo arm’s own −4.1-point drop reflects the known placebo-response pattern in this endpoint.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9848850" y="4972422"/>
            <a:ext cx="7338441" cy="7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90% CI excludes zero, consistent with the reported p=0.0167.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9848850" y="5912272"/>
            <a:ext cx="7338441" cy="1133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N-at-risk and the full ESSDAI trajectory (paper Fig. 2a) are not reproduced numerically here beyond the day-169 readout above.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Responder and subgroup results support a cautious interpretation of the systemic signal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369046"/>
            <a:ext cx="96857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A — DAY-169 RESPONSE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626346"/>
            <a:ext cx="2998068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892921"/>
            <a:ext cx="285941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Improvement threshold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912468" y="3626346"/>
            <a:ext cx="1835497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12468" y="2892921"/>
            <a:ext cx="1683097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DAZ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47965" y="3626346"/>
            <a:ext cx="1869951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47965" y="2892921"/>
            <a:ext cx="1717551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Placebo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17916" y="3626346"/>
            <a:ext cx="2101751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41716" y="2892921"/>
            <a:ext cx="2177951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p-value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4869359"/>
            <a:ext cx="299806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835896"/>
            <a:ext cx="2859410" cy="881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≥3 ESSDAI points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3912468" y="4869359"/>
            <a:ext cx="183549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12468" y="3845421"/>
            <a:ext cx="100206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26/36; 72.2%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3912468" y="4588371"/>
            <a:ext cx="1156915" cy="9525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47965" y="4869359"/>
            <a:ext cx="186995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47965" y="3845421"/>
            <a:ext cx="100206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22/37; 59.5%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5747965" y="4588371"/>
            <a:ext cx="984796" cy="95250"/>
          </a:xfrm>
          <a:prstGeom prst="rect">
            <a:avLst/>
          </a:prstGeom>
          <a:solidFill>
            <a:srgbClr val="C9C4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17916" y="4869359"/>
            <a:ext cx="210175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41716" y="3778746"/>
            <a:ext cx="2177951" cy="995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0.3283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14400" y="6098084"/>
            <a:ext cx="299806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5069384"/>
            <a:ext cx="285941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≥4 ESSDAI points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3912468" y="6098084"/>
            <a:ext cx="183549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912468" y="5074146"/>
            <a:ext cx="100206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24/36; 66.7%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3912468" y="5817096"/>
            <a:ext cx="1076548" cy="9525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47965" y="6098084"/>
            <a:ext cx="186995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47965" y="5074146"/>
            <a:ext cx="100206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18/37; 48.6%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5747965" y="5817096"/>
            <a:ext cx="804193" cy="95250"/>
          </a:xfrm>
          <a:prstGeom prst="rect">
            <a:avLst/>
          </a:prstGeom>
          <a:solidFill>
            <a:srgbClr val="C9C4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617916" y="6098084"/>
            <a:ext cx="210175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41716" y="5012234"/>
            <a:ext cx="217795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0.1823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914400" y="7041059"/>
            <a:ext cx="299806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4400" y="6298109"/>
            <a:ext cx="285941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 ESSDAI points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3912468" y="7041059"/>
            <a:ext cx="183549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12468" y="6326684"/>
            <a:ext cx="8477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61.1%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3912468" y="6736259"/>
            <a:ext cx="980182" cy="9525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747965" y="7041059"/>
            <a:ext cx="186995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747965" y="6326684"/>
            <a:ext cx="8477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35.1%</a:t>
            </a:r>
            <a:endParaRPr lang="en-US" sz="2025" dirty="0"/>
          </a:p>
        </p:txBody>
      </p:sp>
      <p:sp>
        <p:nvSpPr>
          <p:cNvPr id="41" name="Shape 39"/>
          <p:cNvSpPr/>
          <p:nvPr/>
        </p:nvSpPr>
        <p:spPr>
          <a:xfrm>
            <a:off x="5747965" y="6736259"/>
            <a:ext cx="574402" cy="95250"/>
          </a:xfrm>
          <a:prstGeom prst="rect">
            <a:avLst/>
          </a:prstGeom>
          <a:solidFill>
            <a:srgbClr val="C9C4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617916" y="7041059"/>
            <a:ext cx="210175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541716" y="6240959"/>
            <a:ext cx="217795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0.0449; </a:t>
            </a:r>
            <a:r>
              <a:rPr lang="en-US" sz="2025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hoc</a:t>
            </a:r>
            <a:endParaRPr lang="en-US" sz="2025" dirty="0"/>
          </a:p>
        </p:txBody>
      </p:sp>
      <p:sp>
        <p:nvSpPr>
          <p:cNvPr id="44" name="Text 42"/>
          <p:cNvSpPr/>
          <p:nvPr/>
        </p:nvSpPr>
        <p:spPr>
          <a:xfrm>
            <a:off x="914400" y="7283946"/>
            <a:ext cx="906942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show n/N, not just %, to keep small-sample denominators visible — e.g. 26/36 (72.2%) vs. 22/37 (59.5%) at the ≥3-point threshold. None of the three dichotomized thresholds reaches significance at the prespecified level; only the post hoc ≥5-point cut does.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0329267" y="2369046"/>
            <a:ext cx="7044333" cy="2365921"/>
          </a:xfrm>
          <a:prstGeom prst="rect">
            <a:avLst/>
          </a:prstGeom>
          <a:solidFill>
            <a:srgbClr val="F1EF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710267" y="2711946"/>
            <a:ext cx="69105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B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0710267" y="3178671"/>
            <a:ext cx="6470803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adjusted difference without RA/SLE ≈−1.6; with RA/SLE ≈−3.3. Small subgroup Ns.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0710267" y="4096792"/>
            <a:ext cx="69105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exploratory, small N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0329267" y="5001667"/>
            <a:ext cx="57150" cy="1717104"/>
          </a:xfrm>
          <a:prstGeom prst="rect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691217" y="5077867"/>
            <a:ext cx="73506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ON-SLIDE TAKEAWAY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0691217" y="5506492"/>
            <a:ext cx="6882854" cy="1174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Directionally favorable results do not establish a robust responder effect or a treatment-by-subgroup interaction.</a:t>
            </a:r>
            <a:endParaRPr lang="en-US" sz="2100" dirty="0"/>
          </a:p>
        </p:txBody>
      </p:sp>
      <p:sp>
        <p:nvSpPr>
          <p:cNvPr id="52" name="Shape 50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07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431433"/>
            <a:ext cx="15296823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symptom cohort showed a broad signal across dryness, fatigue and pain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1860798"/>
            <a:ext cx="95097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— POPULATION 2, DAY 169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822823"/>
            <a:ext cx="317949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384673"/>
            <a:ext cx="30462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093890" y="2822823"/>
            <a:ext cx="1849487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17690" y="2384673"/>
            <a:ext cx="16970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DAZ change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377" y="2822823"/>
            <a:ext cx="2491904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67177" y="2384673"/>
            <a:ext cx="23395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Placebo change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435280" y="2822823"/>
            <a:ext cx="1124322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59080" y="2384673"/>
            <a:ext cx="12005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p-value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3599111"/>
            <a:ext cx="317949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051423"/>
            <a:ext cx="304627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ESSPRI total — primary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4093890" y="3599111"/>
            <a:ext cx="184948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17690" y="3051423"/>
            <a:ext cx="169708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−1.80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5943377" y="3599111"/>
            <a:ext cx="24919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67177" y="3051423"/>
            <a:ext cx="233950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−0.53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8435280" y="3599111"/>
            <a:ext cx="1124322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59080" y="3051423"/>
            <a:ext cx="120052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0.0002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14400" y="4361111"/>
            <a:ext cx="317949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3818186"/>
            <a:ext cx="30462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Dryness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4093890" y="4361111"/>
            <a:ext cx="184948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17690" y="3818186"/>
            <a:ext cx="16970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−1.9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5943377" y="4361111"/>
            <a:ext cx="24919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67177" y="3818186"/>
            <a:ext cx="23395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−0.8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8435280" y="4361111"/>
            <a:ext cx="1124322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59080" y="3818186"/>
            <a:ext cx="120052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0.0066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914400" y="5123111"/>
            <a:ext cx="317949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4400" y="4580186"/>
            <a:ext cx="30462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4093890" y="5123111"/>
            <a:ext cx="184948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17690" y="4580186"/>
            <a:ext cx="16970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−1.7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5943377" y="5123111"/>
            <a:ext cx="24919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67177" y="4580186"/>
            <a:ext cx="23395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8435280" y="5123111"/>
            <a:ext cx="1124322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59080" y="4580186"/>
            <a:ext cx="120052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0.0022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914400" y="5885111"/>
            <a:ext cx="317949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14400" y="5342186"/>
            <a:ext cx="30462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4093890" y="5885111"/>
            <a:ext cx="184948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017690" y="5342186"/>
            <a:ext cx="16970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−1.8</a:t>
            </a:r>
            <a:endParaRPr lang="en-US" sz="2025" dirty="0"/>
          </a:p>
        </p:txBody>
      </p:sp>
      <p:sp>
        <p:nvSpPr>
          <p:cNvPr id="42" name="Shape 40"/>
          <p:cNvSpPr/>
          <p:nvPr/>
        </p:nvSpPr>
        <p:spPr>
          <a:xfrm>
            <a:off x="5943377" y="5885111"/>
            <a:ext cx="24919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867177" y="5342186"/>
            <a:ext cx="23395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−0.4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8435280" y="5885111"/>
            <a:ext cx="1124322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359080" y="5342186"/>
            <a:ext cx="120052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0.0010</a:t>
            </a:r>
            <a:endParaRPr lang="en-US" sz="2025" dirty="0"/>
          </a:p>
        </p:txBody>
      </p:sp>
      <p:sp>
        <p:nvSpPr>
          <p:cNvPr id="46" name="Shape 44"/>
          <p:cNvSpPr/>
          <p:nvPr/>
        </p:nvSpPr>
        <p:spPr>
          <a:xfrm>
            <a:off x="914400" y="6127998"/>
            <a:ext cx="8645203" cy="1708696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57300" y="6413748"/>
            <a:ext cx="87553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ENDPOINT CONTRAST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57300" y="6804273"/>
            <a:ext cx="8198185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total-score contrast −1.27; 90% CI −1.82 to −0.73. This is a 90% CI, consistent with Slide 7.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10169203" y="1860798"/>
            <a:ext cx="7204397" cy="6604322"/>
          </a:xfrm>
          <a:prstGeom prst="rect">
            <a:avLst/>
          </a:prstGeom>
          <a:solidFill>
            <a:srgbClr val="F1EF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569253" y="2222748"/>
            <a:ext cx="70447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THE EVIDENCE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0569253" y="2727573"/>
            <a:ext cx="6596426" cy="1133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rows favor dazodalibep, and the primary ESSPRI-total result is the strongest p-value in the whole Phase 2 program.</a:t>
            </a:r>
            <a:endParaRPr lang="en-US" sz="2025" dirty="0"/>
          </a:p>
        </p:txBody>
      </p:sp>
      <p:sp>
        <p:nvSpPr>
          <p:cNvPr id="52" name="Text 50"/>
          <p:cNvSpPr/>
          <p:nvPr/>
        </p:nvSpPr>
        <p:spPr>
          <a:xfrm>
            <a:off x="10569253" y="4032572"/>
            <a:ext cx="6596426" cy="1133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consistency across dryness, fatigue and pain supports read-through beyond the single total score.</a:t>
            </a:r>
            <a:endParaRPr lang="en-US" sz="2025" dirty="0"/>
          </a:p>
        </p:txBody>
      </p:sp>
      <p:sp>
        <p:nvSpPr>
          <p:cNvPr id="53" name="Text 51"/>
          <p:cNvSpPr/>
          <p:nvPr/>
        </p:nvSpPr>
        <p:spPr>
          <a:xfrm>
            <a:off x="10569253" y="5337572"/>
            <a:ext cx="6596426" cy="1498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Domain-level tests (dryness/fatigue/pain) are supportive and unadjusted for multiplicity — read them as consistency checks, not independently confirmatory results.</a:t>
            </a:r>
            <a:endParaRPr lang="en-US" sz="2025" dirty="0"/>
          </a:p>
        </p:txBody>
      </p:sp>
      <p:sp>
        <p:nvSpPr>
          <p:cNvPr id="54" name="Text 52"/>
          <p:cNvSpPr/>
          <p:nvPr/>
        </p:nvSpPr>
        <p:spPr>
          <a:xfrm>
            <a:off x="10569253" y="7007721"/>
            <a:ext cx="6596426" cy="1133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tests a later timepoint (week 48, not day 169) and adds DASPRI as a second co-primary (see Slide 18).</a:t>
            </a:r>
            <a:endParaRPr lang="en-US" sz="2025" dirty="0"/>
          </a:p>
        </p:txBody>
      </p:sp>
      <p:sp>
        <p:nvSpPr>
          <p:cNvPr id="55" name="Shape 53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Biomarker suppression supports drug activity; crossover patterns add qualified evidence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330946"/>
            <a:ext cx="8162544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144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A — ADJUSTED GEOMETRIC MEAN RATIO TO BASELINE, DAY 169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595836"/>
            <a:ext cx="2755255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157686"/>
            <a:ext cx="26093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Biomarker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69655" y="3595836"/>
            <a:ext cx="2717378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88134" y="3157686"/>
            <a:ext cx="25703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1: DAZ/Pbo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87033" y="3595836"/>
            <a:ext cx="2452167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10833" y="3157686"/>
            <a:ext cx="25283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2: DAZ/Pbo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372124"/>
            <a:ext cx="27552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824436"/>
            <a:ext cx="260931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CXCL13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3669655" y="4372124"/>
            <a:ext cx="271737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88134" y="3824436"/>
            <a:ext cx="25703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0.67 / 1.00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6387033" y="4372124"/>
            <a:ext cx="245216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10833" y="3824436"/>
            <a:ext cx="252836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0.56 / 1.06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14400" y="5134124"/>
            <a:ext cx="27552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591199"/>
            <a:ext cx="260931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Rheumatoid factor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3669655" y="5134124"/>
            <a:ext cx="271737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88134" y="4591199"/>
            <a:ext cx="2570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0.66 / 1.13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6387033" y="5134124"/>
            <a:ext cx="245216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10833" y="4591199"/>
            <a:ext cx="25283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0.54 / 0.94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914400" y="5357961"/>
            <a:ext cx="816254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Ratios &lt;1.0 = suppression relative to each arm’s own baseline (not a direct drug/placebo ratio).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14400" y="6310461"/>
            <a:ext cx="57150" cy="1319361"/>
          </a:xfrm>
          <a:prstGeom prst="rect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76350" y="6386661"/>
            <a:ext cx="83191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ON-SLIDE TAKEAWAY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76350" y="6796236"/>
            <a:ext cx="7789736" cy="795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Pharmacological activity is supported; durable clinical efficacy under the Phase 3 regimen remains a separate question.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448800" y="2330946"/>
            <a:ext cx="8162544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144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B — CHANGE FROM BASELINE, DAY 169 → DAY 365 (CROSSOVER)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448800" y="3595836"/>
            <a:ext cx="444438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448800" y="3157686"/>
            <a:ext cx="43491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 / sequence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3893180" y="3595836"/>
            <a:ext cx="348042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788767" y="3157686"/>
            <a:ext cx="358483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Trajectory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448800" y="4372124"/>
            <a:ext cx="444438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448800" y="3824436"/>
            <a:ext cx="434911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Systemic, placebo→DAZ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13893180" y="4372124"/>
            <a:ext cx="348042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3788767" y="3824436"/>
            <a:ext cx="358483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ESSDAI −4.1 → −6.3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9448800" y="5134124"/>
            <a:ext cx="444438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48800" y="4591199"/>
            <a:ext cx="4349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Systemic, DAZ→placebo</a:t>
            </a:r>
            <a:endParaRPr lang="en-US" sz="2025" dirty="0"/>
          </a:p>
        </p:txBody>
      </p:sp>
      <p:sp>
        <p:nvSpPr>
          <p:cNvPr id="39" name="Shape 37"/>
          <p:cNvSpPr/>
          <p:nvPr/>
        </p:nvSpPr>
        <p:spPr>
          <a:xfrm>
            <a:off x="13893180" y="5134124"/>
            <a:ext cx="348042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3788767" y="4591199"/>
            <a:ext cx="358483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ESSDAI −6.3 → −4.4</a:t>
            </a:r>
            <a:endParaRPr lang="en-US" sz="2025" dirty="0"/>
          </a:p>
        </p:txBody>
      </p:sp>
      <p:sp>
        <p:nvSpPr>
          <p:cNvPr id="41" name="Shape 39"/>
          <p:cNvSpPr/>
          <p:nvPr/>
        </p:nvSpPr>
        <p:spPr>
          <a:xfrm>
            <a:off x="9448800" y="5896124"/>
            <a:ext cx="444438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448800" y="5353199"/>
            <a:ext cx="4349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Symptomatic, DAZ→placebo</a:t>
            </a:r>
            <a:endParaRPr lang="en-US" sz="2025" dirty="0"/>
          </a:p>
        </p:txBody>
      </p:sp>
      <p:sp>
        <p:nvSpPr>
          <p:cNvPr id="43" name="Shape 41"/>
          <p:cNvSpPr/>
          <p:nvPr/>
        </p:nvSpPr>
        <p:spPr>
          <a:xfrm>
            <a:off x="13893180" y="5896124"/>
            <a:ext cx="348042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3788767" y="5353199"/>
            <a:ext cx="358483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ESSPRI −1.8 → −1.9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9448800" y="6119961"/>
            <a:ext cx="8162544" cy="1133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to dazodalibep (placebo→DAZ) improved further; switching off it (DAZ→placebo) partially reversed — both consistent with an active drug effect.</a:t>
            </a:r>
            <a:endParaRPr lang="en-US" sz="2025" dirty="0"/>
          </a:p>
        </p:txBody>
      </p:sp>
      <p:sp>
        <p:nvSpPr>
          <p:cNvPr id="46" name="Text 44"/>
          <p:cNvSpPr/>
          <p:nvPr/>
        </p:nvSpPr>
        <p:spPr>
          <a:xfrm>
            <a:off x="9448800" y="7424961"/>
            <a:ext cx="8162544" cy="7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crossover after unblinding is not a 48-week parallel-group replication; carryover and expectation effects are real limitations.</a:t>
            </a:r>
            <a:endParaRPr lang="en-US" sz="2025" dirty="0"/>
          </a:p>
        </p:txBody>
      </p:sp>
      <p:sp>
        <p:nvSpPr>
          <p:cNvPr id="47" name="Shape 45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07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443367"/>
            <a:ext cx="15090547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increases information and changes duration and dose comparisons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594223"/>
            <a:ext cx="4608537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60798"/>
            <a:ext cx="4480093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522937" y="2594223"/>
            <a:ext cx="2633439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22937" y="1860798"/>
            <a:ext cx="2445742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systemic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56377" y="2594223"/>
            <a:ext cx="2962647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56377" y="1860798"/>
            <a:ext cx="2784826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systemic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119024" y="2594223"/>
            <a:ext cx="6254576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119024" y="1860798"/>
            <a:ext cx="6442214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 implication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332411"/>
            <a:ext cx="460853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803773"/>
            <a:ext cx="448009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total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5522937" y="3332411"/>
            <a:ext cx="263343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22937" y="2803773"/>
            <a:ext cx="244574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8156377" y="3332411"/>
            <a:ext cx="29626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56377" y="2803773"/>
            <a:ext cx="278482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651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1119024" y="3332411"/>
            <a:ext cx="625457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119024" y="2746623"/>
            <a:ext cx="6442214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precision; not proportional effect growth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14400" y="4389686"/>
            <a:ext cx="460853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532436"/>
            <a:ext cx="448009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Active/control n (one comparison)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5522937" y="4389686"/>
            <a:ext cx="263343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22937" y="3532436"/>
            <a:ext cx="244574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38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8156377" y="4389686"/>
            <a:ext cx="29626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56377" y="3532436"/>
            <a:ext cx="278482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~217 / 217 </a:t>
            </a:r>
            <a:r>
              <a:rPr lang="en-US" sz="2025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assumed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11119024" y="4389686"/>
            <a:ext cx="625457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119024" y="3475286"/>
            <a:ext cx="6442214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≈6.0× per-arm increase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914400" y="5113586"/>
            <a:ext cx="460853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4589711"/>
            <a:ext cx="44800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assessment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5522937" y="5113586"/>
            <a:ext cx="263343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22937" y="4589711"/>
            <a:ext cx="244574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169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8156377" y="5113586"/>
            <a:ext cx="29626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156377" y="4589711"/>
            <a:ext cx="27848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48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11119024" y="5113586"/>
            <a:ext cx="625457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119024" y="4532561"/>
            <a:ext cx="644221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durability and placebo-response window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914400" y="5837486"/>
            <a:ext cx="460853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4400" y="5313611"/>
            <a:ext cx="44800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regimens</a:t>
            </a:r>
            <a:endParaRPr lang="en-US" sz="2025" dirty="0"/>
          </a:p>
        </p:txBody>
      </p:sp>
      <p:sp>
        <p:nvSpPr>
          <p:cNvPr id="39" name="Shape 37"/>
          <p:cNvSpPr/>
          <p:nvPr/>
        </p:nvSpPr>
        <p:spPr>
          <a:xfrm>
            <a:off x="5522937" y="5837486"/>
            <a:ext cx="263343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22937" y="5313611"/>
            <a:ext cx="244574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dose</a:t>
            </a:r>
            <a:endParaRPr lang="en-US" sz="2025" dirty="0"/>
          </a:p>
        </p:txBody>
      </p:sp>
      <p:sp>
        <p:nvSpPr>
          <p:cNvPr id="41" name="Shape 39"/>
          <p:cNvSpPr/>
          <p:nvPr/>
        </p:nvSpPr>
        <p:spPr>
          <a:xfrm>
            <a:off x="8156377" y="5837486"/>
            <a:ext cx="29626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156377" y="5313611"/>
            <a:ext cx="27848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dose arms</a:t>
            </a:r>
            <a:endParaRPr lang="en-US" sz="2025" dirty="0"/>
          </a:p>
        </p:txBody>
      </p:sp>
      <p:sp>
        <p:nvSpPr>
          <p:cNvPr id="43" name="Shape 41"/>
          <p:cNvSpPr/>
          <p:nvPr/>
        </p:nvSpPr>
        <p:spPr>
          <a:xfrm>
            <a:off x="11119024" y="5837486"/>
            <a:ext cx="625457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1119024" y="5256461"/>
            <a:ext cx="644221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 selection and multiplicity matter</a:t>
            </a:r>
            <a:endParaRPr lang="en-US" sz="2025" dirty="0"/>
          </a:p>
        </p:txBody>
      </p:sp>
      <p:sp>
        <p:nvSpPr>
          <p:cNvPr id="45" name="Shape 43"/>
          <p:cNvSpPr/>
          <p:nvPr/>
        </p:nvSpPr>
        <p:spPr>
          <a:xfrm>
            <a:off x="914400" y="6561386"/>
            <a:ext cx="460853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14400" y="6037511"/>
            <a:ext cx="44800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ESSDAI entry floor</a:t>
            </a:r>
            <a:endParaRPr lang="en-US" sz="2025" dirty="0"/>
          </a:p>
        </p:txBody>
      </p:sp>
      <p:sp>
        <p:nvSpPr>
          <p:cNvPr id="47" name="Shape 45"/>
          <p:cNvSpPr/>
          <p:nvPr/>
        </p:nvSpPr>
        <p:spPr>
          <a:xfrm>
            <a:off x="5522937" y="6561386"/>
            <a:ext cx="263343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522937" y="6037511"/>
            <a:ext cx="244574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≥5</a:t>
            </a:r>
            <a:endParaRPr lang="en-US" sz="2025" dirty="0"/>
          </a:p>
        </p:txBody>
      </p:sp>
      <p:sp>
        <p:nvSpPr>
          <p:cNvPr id="49" name="Shape 47"/>
          <p:cNvSpPr/>
          <p:nvPr/>
        </p:nvSpPr>
        <p:spPr>
          <a:xfrm>
            <a:off x="8156377" y="6561386"/>
            <a:ext cx="29626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156377" y="6037511"/>
            <a:ext cx="27848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≥5</a:t>
            </a:r>
            <a:endParaRPr lang="en-US" sz="2025" dirty="0"/>
          </a:p>
        </p:txBody>
      </p:sp>
      <p:sp>
        <p:nvSpPr>
          <p:cNvPr id="51" name="Shape 49"/>
          <p:cNvSpPr/>
          <p:nvPr/>
        </p:nvSpPr>
        <p:spPr>
          <a:xfrm>
            <a:off x="11119024" y="6561386"/>
            <a:ext cx="625457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1119024" y="5980361"/>
            <a:ext cx="644221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established loosening of this threshold</a:t>
            </a:r>
            <a:endParaRPr lang="en-US" sz="2025" dirty="0"/>
          </a:p>
        </p:txBody>
      </p:sp>
      <p:sp>
        <p:nvSpPr>
          <p:cNvPr id="53" name="Shape 51"/>
          <p:cNvSpPr/>
          <p:nvPr/>
        </p:nvSpPr>
        <p:spPr>
          <a:xfrm>
            <a:off x="914400" y="7285286"/>
            <a:ext cx="460853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4400" y="6761411"/>
            <a:ext cx="44800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Baseline/domain mix</a:t>
            </a:r>
            <a:endParaRPr lang="en-US" sz="2025" dirty="0"/>
          </a:p>
        </p:txBody>
      </p:sp>
      <p:sp>
        <p:nvSpPr>
          <p:cNvPr id="55" name="Shape 53"/>
          <p:cNvSpPr/>
          <p:nvPr/>
        </p:nvSpPr>
        <p:spPr>
          <a:xfrm>
            <a:off x="5522937" y="7285286"/>
            <a:ext cx="263343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522937" y="6761411"/>
            <a:ext cx="244574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</a:t>
            </a:r>
            <a:endParaRPr lang="en-US" sz="2025" dirty="0"/>
          </a:p>
        </p:txBody>
      </p:sp>
      <p:sp>
        <p:nvSpPr>
          <p:cNvPr id="57" name="Shape 55"/>
          <p:cNvSpPr/>
          <p:nvPr/>
        </p:nvSpPr>
        <p:spPr>
          <a:xfrm>
            <a:off x="8156377" y="7285286"/>
            <a:ext cx="29626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156377" y="6761411"/>
            <a:ext cx="27848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A84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established</a:t>
            </a:r>
            <a:endParaRPr lang="en-US" sz="2025" dirty="0"/>
          </a:p>
        </p:txBody>
      </p:sp>
      <p:sp>
        <p:nvSpPr>
          <p:cNvPr id="59" name="Shape 57"/>
          <p:cNvSpPr/>
          <p:nvPr/>
        </p:nvSpPr>
        <p:spPr>
          <a:xfrm>
            <a:off x="11119024" y="7285286"/>
            <a:ext cx="625457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1119024" y="6704261"/>
            <a:ext cx="644221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transportability uncertainty</a:t>
            </a:r>
            <a:endParaRPr lang="en-US" sz="2025" dirty="0"/>
          </a:p>
        </p:txBody>
      </p:sp>
      <p:sp>
        <p:nvSpPr>
          <p:cNvPr id="61" name="Text 59"/>
          <p:cNvSpPr/>
          <p:nvPr/>
        </p:nvSpPr>
        <p:spPr>
          <a:xfrm>
            <a:off x="914400" y="7604373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type = assumed or not established, not confirmed by the registry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914400" y="8818364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14400" y="9037439"/>
            <a:ext cx="16952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03_analysis/final_thesis.md, 02_research/phase2_baseline_characteristics.md. Allocation assumed equal; not confirmed by registry.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PK/PD supports dose selection, while clinical effect and testing rules remain separate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407146"/>
            <a:ext cx="8551218" cy="795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population PK/PD model pooled 4 trials (healthy volunteers, RA, Sjögren’s), relating exposure to immune biomarkers.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355032"/>
            <a:ext cx="8551218" cy="795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Sjögren’s patients clear the drug more slowly than healthy volunteers/RA patients — a real, population-specific PK finding.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4302919"/>
            <a:ext cx="8551218" cy="1174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supports the proposed Phase 3 doses achieving sustained exposure above the Ki67+/RF biomarker IC50, a pharmacodynamic target, not a clinical efficacy guarantee.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5629498"/>
            <a:ext cx="8551218" cy="795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active arms vs. one shared placebo raises a multiplicity question with no public testing-hierarchy disclosure.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826154" y="2407146"/>
            <a:ext cx="39415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CONFIRMED (REGISTRY)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826154" y="2911971"/>
            <a:ext cx="3583186" cy="2331541"/>
          </a:xfrm>
          <a:prstGeom prst="rect">
            <a:avLst/>
          </a:prstGeom>
          <a:solidFill>
            <a:srgbClr val="F1EFE9"/>
          </a:solidFill>
          <a:ln w="19050">
            <a:solidFill>
              <a:srgbClr val="172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86350" y="3254871"/>
            <a:ext cx="3062794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5667"/>
              </a:lnSpc>
              <a:buNone/>
            </a:pPr>
            <a:r>
              <a:rPr lang="en-US" sz="19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arms — Dose 1, Dose 2, Placebo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086350" y="4182517"/>
            <a:ext cx="3062794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5667"/>
              </a:lnSpc>
              <a:buNone/>
            </a:pPr>
            <a:r>
              <a:rPr lang="en-US" sz="19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Doses and allocation ratio not disclosed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790340" y="2407146"/>
            <a:ext cx="36907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ONLY — NOT CONFIRMED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461629" y="3207246"/>
            <a:ext cx="2464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α = 0.05</a:t>
            </a:r>
            <a:endParaRPr lang="en-US" sz="2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90340" y="3512046"/>
            <a:ext cx="3583260" cy="5715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3790340" y="4083546"/>
            <a:ext cx="1715393" cy="1306785"/>
          </a:xfrm>
          <a:prstGeom prst="rect">
            <a:avLst/>
          </a:prstGeom>
          <a:solidFill>
            <a:srgbClr val="EAF1F0"/>
          </a:solidFill>
          <a:ln w="19050">
            <a:solidFill>
              <a:srgbClr val="1B6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3866540" y="4274046"/>
            <a:ext cx="1562993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7818"/>
              </a:lnSpc>
              <a:buNone/>
            </a:pPr>
            <a:r>
              <a:rPr lang="en-US" sz="1800" dirty="0">
                <a:solidFill>
                  <a:srgbClr val="17233D"/>
                </a:solidFill>
                <a:highlight>
                  <a:srgbClr val="EAF1F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Dose 1 vs. Placebo </a:t>
            </a: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0.025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5658133" y="4083546"/>
            <a:ext cx="1715467" cy="1306785"/>
          </a:xfrm>
          <a:prstGeom prst="rect">
            <a:avLst/>
          </a:prstGeom>
          <a:solidFill>
            <a:srgbClr val="EAF1F0"/>
          </a:solidFill>
          <a:ln w="19050">
            <a:solidFill>
              <a:srgbClr val="1B6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5734333" y="4274046"/>
            <a:ext cx="1563067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7818"/>
              </a:lnSpc>
              <a:buNone/>
            </a:pPr>
            <a:r>
              <a:rPr lang="en-US" sz="1800" dirty="0">
                <a:solidFill>
                  <a:srgbClr val="17233D"/>
                </a:solidFill>
                <a:highlight>
                  <a:srgbClr val="EAF1F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Dose 2 vs. Placebo </a:t>
            </a: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0.025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736591" y="5580831"/>
            <a:ext cx="3690758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2182"/>
              </a:lnSpc>
              <a:buNone/>
            </a:pPr>
            <a:r>
              <a:rPr lang="en-US" sz="1800" dirty="0">
                <a:solidFill>
                  <a:srgbClr val="A84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illustrative possibility, not Amgen’s actual statistical plan, which is not public.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03_analysis/additional_topics.md, 03_analysis/scenario_model.md.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Ianalumab validates week-48 ESSDAI as a feasible endpoint, with modest effect sizes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330946"/>
            <a:ext cx="913236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— INDIVIDUAL PHASE 3 RESULTS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273921"/>
            <a:ext cx="3938662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835771"/>
            <a:ext cx="38282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Trial / regimen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53062" y="3273921"/>
            <a:ext cx="120201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76862" y="2835771"/>
            <a:ext cx="10496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55072" y="3273921"/>
            <a:ext cx="2041699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78872" y="2835771"/>
            <a:ext cx="188929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 CI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96771" y="3273921"/>
            <a:ext cx="1119783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20571" y="2835771"/>
            <a:ext cx="11959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p-value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4013002"/>
            <a:ext cx="3938662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483471"/>
            <a:ext cx="3828222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NEPTUNUS-1, monthly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4853062" y="4013002"/>
            <a:ext cx="120201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6862" y="3483471"/>
            <a:ext cx="1049610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−1.3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6055072" y="4013002"/>
            <a:ext cx="204169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78872" y="3483471"/>
            <a:ext cx="1889299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−2.6 to 0.0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8096771" y="4013002"/>
            <a:ext cx="111978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20571" y="3426321"/>
            <a:ext cx="1195983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0.0496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14400" y="4737795"/>
            <a:ext cx="3938662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213027"/>
            <a:ext cx="382822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NEPTUNUS-2, monthly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4853062" y="4737795"/>
            <a:ext cx="120201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76862" y="4213027"/>
            <a:ext cx="104961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−1.0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6055072" y="4737795"/>
            <a:ext cx="204169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78872" y="4213027"/>
            <a:ext cx="188929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−2.0 to 0.0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8096771" y="4737795"/>
            <a:ext cx="111978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20571" y="4155877"/>
            <a:ext cx="1195983" cy="486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0.041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914400" y="5462588"/>
            <a:ext cx="3938662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4400" y="4937820"/>
            <a:ext cx="382822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NEPTUNUS-2, every 3 months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4853062" y="5462588"/>
            <a:ext cx="120201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76862" y="4937820"/>
            <a:ext cx="104961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n.s.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6055072" y="5462588"/>
            <a:ext cx="204169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78872" y="4937820"/>
            <a:ext cx="188929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8096771" y="5462588"/>
            <a:ext cx="111978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020571" y="4880670"/>
            <a:ext cx="1195983" cy="486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914400" y="5686425"/>
            <a:ext cx="8551218" cy="7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treatment met the endpoint in both trials; less-frequent dosing did not.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914400" y="6626275"/>
            <a:ext cx="8551218" cy="1133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677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Ph2b met its prespecified dose-response objective (4 of 5 models significant); the 300mg pairwise comparison alone (p≈0.092) does not define trial failure.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9826154" y="2330946"/>
            <a:ext cx="7547446" cy="4884390"/>
          </a:xfrm>
          <a:prstGeom prst="rect">
            <a:avLst/>
          </a:prstGeom>
          <a:solidFill>
            <a:srgbClr val="F1EF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188104" y="2654796"/>
            <a:ext cx="7028253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144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FOREST PLOT — EFFECT VS. PLACEBO (ESSDAI POINTS, 95% CI)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188104" y="3500586"/>
            <a:ext cx="2171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NEPTUNUS-1 </a:t>
            </a:r>
            <a:r>
              <a:rPr lang="en-US" sz="18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474104" y="3776811"/>
            <a:ext cx="4537546" cy="19050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5500598" y="3595836"/>
            <a:ext cx="19050" cy="381000"/>
          </a:xfrm>
          <a:prstGeom prst="rect">
            <a:avLst/>
          </a:prstGeom>
          <a:solidFill>
            <a:srgbClr val="6F76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3077527" y="3767286"/>
            <a:ext cx="2422996" cy="3810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4816361" y="3710136"/>
            <a:ext cx="152400" cy="15240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188104" y="4357836"/>
            <a:ext cx="2171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NEPTUNUS-2 </a:t>
            </a:r>
            <a:r>
              <a:rPr lang="en-US" sz="18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2474104" y="4634061"/>
            <a:ext cx="4537546" cy="19050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5500598" y="4453086"/>
            <a:ext cx="19050" cy="381000"/>
          </a:xfrm>
          <a:prstGeom prst="rect">
            <a:avLst/>
          </a:prstGeom>
          <a:solidFill>
            <a:srgbClr val="6F76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3985081" y="4624536"/>
            <a:ext cx="1515517" cy="3810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5120417" y="4567386"/>
            <a:ext cx="152400" cy="15240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188104" y="5215086"/>
            <a:ext cx="2171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NEPTUNUS-2 </a:t>
            </a:r>
            <a:r>
              <a:rPr lang="en-US" sz="18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months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2474104" y="5491311"/>
            <a:ext cx="4537546" cy="19050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5500598" y="5310336"/>
            <a:ext cx="19050" cy="381000"/>
          </a:xfrm>
          <a:prstGeom prst="rect">
            <a:avLst/>
          </a:prstGeom>
          <a:solidFill>
            <a:srgbClr val="6F76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2474104" y="5377011"/>
            <a:ext cx="3112815" cy="295275"/>
          </a:xfrm>
          <a:prstGeom prst="rect">
            <a:avLst/>
          </a:prstGeom>
          <a:solidFill>
            <a:srgbClr val="F1EF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2474104" y="5377011"/>
            <a:ext cx="33288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n.s. — CI not reported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2474104" y="6072336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3940879" y="6072336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5407655" y="6072336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6874430" y="6072336"/>
            <a:ext cx="2134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0188104" y="6596211"/>
            <a:ext cx="19619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favors drug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4816584" y="6596211"/>
            <a:ext cx="241457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favors placebo →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14400" y="8818364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14400" y="9037439"/>
            <a:ext cx="16952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 lists NEPTUNUS-2 N=506; conference presentation cites N=504 — this discrepancy is unresolved, reported both rather than picking one. Source: 02_research/ianalumab_competitor_analysis.md.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Same-pathway evidence supports systemic activity more clearly than universal symptom benefit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807196"/>
            <a:ext cx="5596086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369046"/>
            <a:ext cx="545916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10486" y="2807196"/>
            <a:ext cx="4937745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10486" y="2369046"/>
            <a:ext cx="47810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48231" y="2807196"/>
            <a:ext cx="5925369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48231" y="2369046"/>
            <a:ext cx="61031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contributes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596804"/>
            <a:ext cx="559608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035796"/>
            <a:ext cx="5459169" cy="38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Iscalimab systemic cohort, N=173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510486" y="3596804"/>
            <a:ext cx="49377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0486" y="3035796"/>
            <a:ext cx="4781077" cy="38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dose-response objective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48231" y="3596804"/>
            <a:ext cx="592536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48231" y="3035796"/>
            <a:ext cx="6103130" cy="38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CD40 pathway plausibility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4372124"/>
            <a:ext cx="559608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815879"/>
            <a:ext cx="545916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Iscalimab symptom cohort, N=100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510486" y="4372124"/>
            <a:ext cx="49377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10486" y="3815879"/>
            <a:ext cx="4781077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ESSPRI −0.57; p=0.12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1448231" y="4372124"/>
            <a:ext cx="592536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48231" y="3815879"/>
            <a:ext cx="610313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benefit not assured by pathway alone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14400" y="5147444"/>
            <a:ext cx="559608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4591199"/>
            <a:ext cx="545916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Abatacept ASAP-III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510486" y="5147444"/>
            <a:ext cx="49377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10486" y="4591199"/>
            <a:ext cx="4781077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A84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continuous ESSDAI primary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1448231" y="5147444"/>
            <a:ext cx="592536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448231" y="4591199"/>
            <a:ext cx="610313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 biology can still fail clinically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14400" y="6269459"/>
            <a:ext cx="559608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5366519"/>
            <a:ext cx="545916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Rituximab TRACTISS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6510486" y="6269459"/>
            <a:ext cx="49377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10486" y="5366519"/>
            <a:ext cx="478107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A84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symptom-VAS responder primary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1448231" y="6269459"/>
            <a:ext cx="592536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448231" y="5366519"/>
            <a:ext cx="610313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Endpoint/population selection matters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914400" y="7391474"/>
            <a:ext cx="559608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14400" y="6488534"/>
            <a:ext cx="5459169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Tocilizumab ETAP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6510486" y="7391474"/>
            <a:ext cx="49377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10486" y="6488534"/>
            <a:ext cx="478107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A84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composite-response primary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1448231" y="7391474"/>
            <a:ext cx="592536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1448231" y="6488534"/>
            <a:ext cx="610313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response construct, not continuous ESSDAI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914400" y="7672462"/>
            <a:ext cx="57150" cy="552450"/>
          </a:xfrm>
          <a:prstGeom prst="rect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276350" y="7748662"/>
            <a:ext cx="17706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ON-SLIDE TAKEAWAY: use prior trials to challenge assumptions; avoid a numerical “class success rate.”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02_research/historical_trial_evidence.md.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21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325359"/>
            <a:ext cx="14731365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1.4-point base assumption retains about two-thirds of the Phase 2 effect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5334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070348"/>
            <a:ext cx="2304231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632198"/>
            <a:ext cx="20756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18631" y="2070348"/>
            <a:ext cx="2962647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18631" y="1632198"/>
            <a:ext cx="27467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Assumed benefit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81279" y="2070348"/>
            <a:ext cx="2962647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81279" y="1632198"/>
            <a:ext cx="27467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Retention vs. 2.2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3926" y="2070348"/>
            <a:ext cx="8229674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3926" y="1632198"/>
            <a:ext cx="84765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Rationale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2913311"/>
            <a:ext cx="230423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298948"/>
            <a:ext cx="2075631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218631" y="2913311"/>
            <a:ext cx="29626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18631" y="2298948"/>
            <a:ext cx="2746726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81279" y="2913311"/>
            <a:ext cx="29626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81279" y="2298948"/>
            <a:ext cx="2746726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91%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143926" y="2913311"/>
            <a:ext cx="822967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3926" y="2298948"/>
            <a:ext cx="847656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 Phase 2 signal persists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4400" y="3688631"/>
            <a:ext cx="230423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132386"/>
            <a:ext cx="207563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3218631" y="3688631"/>
            <a:ext cx="29626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18631" y="3132386"/>
            <a:ext cx="274672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181279" y="3688631"/>
            <a:ext cx="29626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81279" y="3132386"/>
            <a:ext cx="274672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64%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143926" y="3688631"/>
            <a:ext cx="822967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3926" y="3132386"/>
            <a:ext cx="847656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attenuation without loss of activity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14400" y="4810646"/>
            <a:ext cx="230423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3907706"/>
            <a:ext cx="2075631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3218631" y="4810646"/>
            <a:ext cx="29626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18631" y="3907706"/>
            <a:ext cx="2746726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181279" y="4810646"/>
            <a:ext cx="29626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81279" y="3907706"/>
            <a:ext cx="2746726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27%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9143926" y="4810646"/>
            <a:ext cx="822967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143926" y="3907706"/>
            <a:ext cx="847656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attenuation via efficacy, measurement, or population differences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4400" y="5244033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ASSUMED BENEFIT (ESSDAI POINTS)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750259" y="5729808"/>
            <a:ext cx="62485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 0.6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750437" y="5729808"/>
            <a:ext cx="670694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4576"/>
              </a:lnSpc>
              <a:buNone/>
            </a:pPr>
            <a:r>
              <a:rPr lang="en-US" sz="195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1.4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3540718" y="5729808"/>
            <a:ext cx="624855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15556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 2.0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4769442" y="5994271"/>
            <a:ext cx="1722165" cy="609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lnSpc>
                <a:spcPct val="111111"/>
              </a:lnSpc>
              <a:buNone/>
            </a:pPr>
            <a:r>
              <a:rPr lang="en-US" sz="180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observed 2.2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996011" y="6472758"/>
            <a:ext cx="133350" cy="49530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000059" y="6358458"/>
            <a:ext cx="171450" cy="60960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3786470" y="6472758"/>
            <a:ext cx="133350" cy="49530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5089832" y="6529908"/>
            <a:ext cx="38100" cy="438150"/>
          </a:xfrm>
          <a:prstGeom prst="rect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295400" y="6968058"/>
            <a:ext cx="15697200" cy="28575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95400" y="7120458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4352553" y="7120458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409706" y="7120458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466784" y="7120458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3523937" y="7120458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6581090" y="7120458"/>
            <a:ext cx="4877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914400" y="7787208"/>
            <a:ext cx="1471612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 case is a judgment call, not a fitted or empirically estimated mean — tested across a range rather than one decimal point. Three scenario points on the assumed-benefit axis, with Phase 2’s observed 2.2-point effect shown as a separate reference marker (not a fourth scenario).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914400" y="9085064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14400" y="9304139"/>
            <a:ext cx="16952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03_analysis/scenario_model.md. Scenario weights are analyst judgment, not empirically estimated probabilities — omitted from this slide.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784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4953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base effect has favorable power under nominal testing, but the margin narrows with stricter assumptions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5715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140446"/>
            <a:ext cx="695482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kern="0" spc="144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— ONE ACTIVE-DOSE COMPARISON, n=217/ARM, EFFECTIVE SD=5.47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995886"/>
            <a:ext cx="2159645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967186"/>
            <a:ext cx="204534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Assumed true benefit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74045" y="3995886"/>
            <a:ext cx="165802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97845" y="2967186"/>
            <a:ext cx="1543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@ α=0.05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32065" y="3995886"/>
            <a:ext cx="2934593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4027" y="2967186"/>
            <a:ext cx="3022631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@ illustrative α=0.025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619774"/>
            <a:ext cx="21596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148286"/>
            <a:ext cx="204534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3074045" y="4619774"/>
            <a:ext cx="165802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97845" y="4148286"/>
            <a:ext cx="154372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21%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4732065" y="4619774"/>
            <a:ext cx="293459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44027" y="4148286"/>
            <a:ext cx="302263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14%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14400" y="5229374"/>
            <a:ext cx="21596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762649"/>
            <a:ext cx="20453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3074045" y="5229374"/>
            <a:ext cx="165802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97845" y="4762649"/>
            <a:ext cx="15437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48%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4732065" y="5229374"/>
            <a:ext cx="293459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44027" y="4762649"/>
            <a:ext cx="30226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37%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14400" y="5796111"/>
            <a:ext cx="21596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5372249"/>
            <a:ext cx="20453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3074045" y="5796111"/>
            <a:ext cx="165802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97845" y="5372249"/>
            <a:ext cx="15437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76%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4732065" y="5796111"/>
            <a:ext cx="293459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44027" y="5372249"/>
            <a:ext cx="30226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66%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914400" y="6405711"/>
            <a:ext cx="21596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4400" y="5938986"/>
            <a:ext cx="20453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3074045" y="6405711"/>
            <a:ext cx="165802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997845" y="5938986"/>
            <a:ext cx="15437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86%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4732065" y="6405711"/>
            <a:ext cx="293459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44027" y="5938986"/>
            <a:ext cx="30226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79%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914400" y="7015311"/>
            <a:ext cx="21596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14400" y="6548586"/>
            <a:ext cx="20453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3074045" y="7015311"/>
            <a:ext cx="165802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997845" y="6548586"/>
            <a:ext cx="15437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97%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4732065" y="7015311"/>
            <a:ext cx="293459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44027" y="6548586"/>
            <a:ext cx="30226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94%</a:t>
            </a:r>
            <a:endParaRPr lang="en-US" sz="2025" dirty="0"/>
          </a:p>
        </p:txBody>
      </p:sp>
      <p:sp>
        <p:nvSpPr>
          <p:cNvPr id="42" name="Shape 40"/>
          <p:cNvSpPr/>
          <p:nvPr/>
        </p:nvSpPr>
        <p:spPr>
          <a:xfrm>
            <a:off x="914400" y="7315349"/>
            <a:ext cx="57150" cy="1232446"/>
          </a:xfrm>
          <a:prstGeom prst="rect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238250" y="7391549"/>
            <a:ext cx="662126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ON-SLIDE TAKEAWAY: statistical success remains genuinely uncertain even if the assumed biological effect is correct.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8238158" y="2140446"/>
            <a:ext cx="9135442" cy="6548884"/>
          </a:xfrm>
          <a:prstGeom prst="rect">
            <a:avLst/>
          </a:prstGeom>
          <a:solidFill>
            <a:srgbClr val="F1EF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581058" y="2445246"/>
            <a:ext cx="92946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STATISTICAL POWER VS. ASSUMED TRUE EFFECT, n≈217/ARM</a:t>
            </a:r>
            <a:endParaRPr lang="en-US" sz="1800" dirty="0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1058" y="2911971"/>
            <a:ext cx="8449642" cy="4224784"/>
          </a:xfrm>
          <a:prstGeom prst="rect">
            <a:avLst/>
          </a:prstGeom>
        </p:spPr>
      </p:pic>
      <p:sp>
        <p:nvSpPr>
          <p:cNvPr id="47" name="Shape 44"/>
          <p:cNvSpPr/>
          <p:nvPr/>
        </p:nvSpPr>
        <p:spPr>
          <a:xfrm>
            <a:off x="8581058" y="7427268"/>
            <a:ext cx="323850" cy="57150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9038258" y="7308205"/>
            <a:ext cx="42245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= 3.65 (Phase 2 observed)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8581058" y="7817793"/>
            <a:ext cx="323850" cy="57150"/>
          </a:xfrm>
          <a:prstGeom prst="rect">
            <a:avLst/>
          </a:prstGeom>
          <a:solidFill>
            <a:srgbClr val="A88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9038258" y="7698730"/>
            <a:ext cx="42245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= 5.00 (Phase 2 planning)</a:t>
            </a:r>
            <a:endParaRPr lang="en-US" sz="1800" dirty="0"/>
          </a:p>
        </p:txBody>
      </p:sp>
      <p:sp>
        <p:nvSpPr>
          <p:cNvPr id="51" name="Shape 48"/>
          <p:cNvSpPr/>
          <p:nvPr/>
        </p:nvSpPr>
        <p:spPr>
          <a:xfrm>
            <a:off x="8581058" y="8208318"/>
            <a:ext cx="323850" cy="57150"/>
          </a:xfrm>
          <a:prstGeom prst="rect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9038258" y="8089255"/>
            <a:ext cx="40737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= 5.47 (ianalumab-based)</a:t>
            </a:r>
            <a:endParaRPr lang="en-US" sz="1800" dirty="0"/>
          </a:p>
        </p:txBody>
      </p:sp>
      <p:sp>
        <p:nvSpPr>
          <p:cNvPr id="53" name="Shape 50"/>
          <p:cNvSpPr/>
          <p:nvPr/>
        </p:nvSpPr>
        <p:spPr>
          <a:xfrm>
            <a:off x="914400" y="93669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914400" y="95860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03_analysis/scenario_model.md. SD=5.47 is a comparator-based sensitivity, not a measured dazodalibep Phase 3 SD.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784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4953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variance and information loss can materially weaken the same efficacy forecast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5715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140446"/>
            <a:ext cx="87382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— ASSUMED TRUE BENEFIT FIXED AT 1.4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083421"/>
            <a:ext cx="3691607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645271"/>
            <a:ext cx="36118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Assumption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06007" y="3083421"/>
            <a:ext cx="1038671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9807" y="2645271"/>
            <a:ext cx="92437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n/arm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44679" y="3083421"/>
            <a:ext cx="1057424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68479" y="2645271"/>
            <a:ext cx="9431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02103" y="3083421"/>
            <a:ext cx="2156147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5903" y="2645271"/>
            <a:ext cx="22323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Approx. power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3707309"/>
            <a:ext cx="369160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235821"/>
            <a:ext cx="361185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3.65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4606007" y="3707309"/>
            <a:ext cx="103867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9807" y="3235821"/>
            <a:ext cx="92437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5644679" y="3707309"/>
            <a:ext cx="105742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68479" y="3235821"/>
            <a:ext cx="94312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6702103" y="3707309"/>
            <a:ext cx="21561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25903" y="3235821"/>
            <a:ext cx="223234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98%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14400" y="4316909"/>
            <a:ext cx="369160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3850184"/>
            <a:ext cx="36118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5.00 (Ph2 planning)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4606007" y="4316909"/>
            <a:ext cx="103867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29807" y="3850184"/>
            <a:ext cx="9243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5644679" y="4316909"/>
            <a:ext cx="105742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68479" y="3850184"/>
            <a:ext cx="94312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6702103" y="4316909"/>
            <a:ext cx="21561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25903" y="3850184"/>
            <a:ext cx="22323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83%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914400" y="4926509"/>
            <a:ext cx="369160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4400" y="4459784"/>
            <a:ext cx="36118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5.47 (ianalumab-based)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4606007" y="4926509"/>
            <a:ext cx="103867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29807" y="4459784"/>
            <a:ext cx="9243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5644679" y="4926509"/>
            <a:ext cx="105742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68479" y="4459784"/>
            <a:ext cx="94312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6702103" y="4926509"/>
            <a:ext cx="21561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25903" y="4459784"/>
            <a:ext cx="22323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76%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914400" y="5536109"/>
            <a:ext cx="369160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14400" y="5069384"/>
            <a:ext cx="36118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 5.47, stricter α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4606007" y="5536109"/>
            <a:ext cx="103867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29807" y="5069384"/>
            <a:ext cx="9243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2025" dirty="0"/>
          </a:p>
        </p:txBody>
      </p:sp>
      <p:sp>
        <p:nvSpPr>
          <p:cNvPr id="42" name="Shape 40"/>
          <p:cNvSpPr/>
          <p:nvPr/>
        </p:nvSpPr>
        <p:spPr>
          <a:xfrm>
            <a:off x="5644679" y="5536109"/>
            <a:ext cx="105742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68479" y="5069384"/>
            <a:ext cx="94312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0.025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6702103" y="5536109"/>
            <a:ext cx="21561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25903" y="5069384"/>
            <a:ext cx="22323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66%</a:t>
            </a:r>
            <a:endParaRPr lang="en-US" sz="2025" dirty="0"/>
          </a:p>
        </p:txBody>
      </p:sp>
      <p:sp>
        <p:nvSpPr>
          <p:cNvPr id="46" name="Shape 44"/>
          <p:cNvSpPr/>
          <p:nvPr/>
        </p:nvSpPr>
        <p:spPr>
          <a:xfrm>
            <a:off x="914400" y="6145709"/>
            <a:ext cx="369160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14400" y="5678984"/>
            <a:ext cx="36118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Same, reduced effective n</a:t>
            </a:r>
            <a:endParaRPr lang="en-US" sz="2025" dirty="0"/>
          </a:p>
        </p:txBody>
      </p:sp>
      <p:sp>
        <p:nvSpPr>
          <p:cNvPr id="48" name="Shape 46"/>
          <p:cNvSpPr/>
          <p:nvPr/>
        </p:nvSpPr>
        <p:spPr>
          <a:xfrm>
            <a:off x="4606007" y="6145709"/>
            <a:ext cx="103867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529807" y="5678984"/>
            <a:ext cx="9243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184</a:t>
            </a:r>
            <a:endParaRPr lang="en-US" sz="2025" dirty="0"/>
          </a:p>
        </p:txBody>
      </p:sp>
      <p:sp>
        <p:nvSpPr>
          <p:cNvPr id="50" name="Shape 48"/>
          <p:cNvSpPr/>
          <p:nvPr/>
        </p:nvSpPr>
        <p:spPr>
          <a:xfrm>
            <a:off x="5644679" y="6145709"/>
            <a:ext cx="105742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568479" y="5678984"/>
            <a:ext cx="94312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0.025</a:t>
            </a:r>
            <a:endParaRPr lang="en-US" sz="2025" dirty="0"/>
          </a:p>
        </p:txBody>
      </p:sp>
      <p:sp>
        <p:nvSpPr>
          <p:cNvPr id="52" name="Shape 50"/>
          <p:cNvSpPr/>
          <p:nvPr/>
        </p:nvSpPr>
        <p:spPr>
          <a:xfrm>
            <a:off x="6702103" y="6145709"/>
            <a:ext cx="215614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625903" y="5678984"/>
            <a:ext cx="22323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25" b="1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58%</a:t>
            </a:r>
            <a:endParaRPr lang="en-US" sz="2025" dirty="0"/>
          </a:p>
        </p:txBody>
      </p:sp>
      <p:sp>
        <p:nvSpPr>
          <p:cNvPr id="54" name="Shape 52"/>
          <p:cNvSpPr/>
          <p:nvPr/>
        </p:nvSpPr>
        <p:spPr>
          <a:xfrm>
            <a:off x="9429750" y="2140446"/>
            <a:ext cx="7943850" cy="5962650"/>
          </a:xfrm>
          <a:prstGeom prst="rect">
            <a:avLst/>
          </a:prstGeom>
          <a:solidFill>
            <a:srgbClr val="F1EF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791700" y="2464296"/>
            <a:ext cx="743654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ASSUMED EFFECT, FIVE VARIANCE/TESTING SCENARIOS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9791700" y="3302496"/>
            <a:ext cx="304133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3.65, n=217, α=0.05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2896850" y="3578721"/>
            <a:ext cx="3136329" cy="38100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5947454" y="3512046"/>
            <a:ext cx="171450" cy="171450"/>
          </a:xfrm>
          <a:prstGeom prst="ellipse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6249650" y="3469184"/>
            <a:ext cx="838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98%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9791700" y="4064496"/>
            <a:ext cx="304133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5.00, n=217, α=0.05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2896850" y="4340721"/>
            <a:ext cx="2656284" cy="38100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5467409" y="4274046"/>
            <a:ext cx="171450" cy="171450"/>
          </a:xfrm>
          <a:prstGeom prst="ellipse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6249650" y="4231184"/>
            <a:ext cx="838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83%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9791700" y="4826496"/>
            <a:ext cx="304133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5.47, n=217, α=0.05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2896850" y="5102721"/>
            <a:ext cx="2432298" cy="38100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5243423" y="5036046"/>
            <a:ext cx="171450" cy="171450"/>
          </a:xfrm>
          <a:prstGeom prst="ellipse">
            <a:avLst/>
          </a:prstGeom>
          <a:solidFill>
            <a:srgbClr val="A88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6249650" y="4993184"/>
            <a:ext cx="838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76%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9791700" y="5588496"/>
            <a:ext cx="304133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5.47, n=217, α=0.025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2896850" y="5864721"/>
            <a:ext cx="2112243" cy="38100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4923368" y="5798046"/>
            <a:ext cx="171450" cy="171450"/>
          </a:xfrm>
          <a:prstGeom prst="ellipse">
            <a:avLst/>
          </a:prstGeom>
          <a:solidFill>
            <a:srgbClr val="A88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6249650" y="5755184"/>
            <a:ext cx="838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66%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9791700" y="6350496"/>
            <a:ext cx="304133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5.47, n=184, α=0.025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2896850" y="6626721"/>
            <a:ext cx="1856184" cy="38100"/>
          </a:xfrm>
          <a:prstGeom prst="rect">
            <a:avLst/>
          </a:prstGeom>
          <a:solidFill>
            <a:srgbClr val="CFC9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4667309" y="6560046"/>
            <a:ext cx="171450" cy="171450"/>
          </a:xfrm>
          <a:prstGeom prst="ellipse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6249650" y="6517184"/>
            <a:ext cx="838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58%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9791700" y="7188696"/>
            <a:ext cx="743654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Conditional power at assumed true benefit = 1.4 points (%)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914400" y="8342114"/>
            <a:ext cx="1810512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sample size alone is insufficient; repeated measurement and adjustment affect precision.</a:t>
            </a:r>
            <a:endParaRPr lang="en-US" sz="2025" dirty="0"/>
          </a:p>
        </p:txBody>
      </p:sp>
      <p:sp>
        <p:nvSpPr>
          <p:cNvPr id="78" name="Text 76"/>
          <p:cNvSpPr/>
          <p:nvPr/>
        </p:nvSpPr>
        <p:spPr>
          <a:xfrm>
            <a:off x="914400" y="8778329"/>
            <a:ext cx="1810512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3’s treatment of missing data/rescue medication is unknown and matters.</a:t>
            </a:r>
            <a:endParaRPr lang="en-US" sz="2025" dirty="0"/>
          </a:p>
        </p:txBody>
      </p:sp>
      <p:sp>
        <p:nvSpPr>
          <p:cNvPr id="79" name="Shape 77"/>
          <p:cNvSpPr/>
          <p:nvPr/>
        </p:nvSpPr>
        <p:spPr>
          <a:xfrm>
            <a:off x="914400" y="93669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914400" y="95860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03_analysis/scenario_model.md.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784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4953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ESSPRI evidence supports optimism — DASPRI is a new, FDA-PRO-aligned instrument with zero track record for this drug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5715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616696"/>
            <a:ext cx="4279329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178546"/>
            <a:ext cx="41029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93729" y="2616696"/>
            <a:ext cx="6254428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93729" y="2178546"/>
            <a:ext cx="61372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available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48157" y="2616696"/>
            <a:ext cx="5925443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48157" y="2178546"/>
            <a:ext cx="61032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728145"/>
            <a:ext cx="427932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845296"/>
            <a:ext cx="4102909" cy="71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DAZ improve reported symptoms?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5193729" y="3728145"/>
            <a:ext cx="625442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93729" y="2845296"/>
            <a:ext cx="6137260" cy="71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Phase 2 ESSPRI total/domain results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1448157" y="3728145"/>
            <a:ext cx="59254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48157" y="2845296"/>
            <a:ext cx="6103206" cy="71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a positive ESSPRI lean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14400" y="4825305"/>
            <a:ext cx="427932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947220"/>
            <a:ext cx="410290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benefit extend to week 48?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5193729" y="4825305"/>
            <a:ext cx="625442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93729" y="3947220"/>
            <a:ext cx="613726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Supportive crossover only, no parallel-group replication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11448157" y="4825305"/>
            <a:ext cx="59254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48157" y="3947220"/>
            <a:ext cx="610320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Durability remains a test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914400" y="6925270"/>
            <a:ext cx="427932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5044380"/>
            <a:ext cx="4102909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supports DASPRI?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5193729" y="6925270"/>
            <a:ext cx="625442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93729" y="5044380"/>
            <a:ext cx="6137260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absent from the Phase 2 paper — I searched the full text myself, zero occurrences. DASPRI was developed as a patient-symptom diary specifically to align with FDA patient-reported-outcome guidance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11448157" y="6925270"/>
            <a:ext cx="59254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448157" y="5044380"/>
            <a:ext cx="6103206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A84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dazodalibep-specific precedent exists for this instrument at all; likely added for regulatory-alignment reasons, not because ESSPRI underperformed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914400" y="8022431"/>
            <a:ext cx="427932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7144345"/>
            <a:ext cx="410290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defines overall trial success?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5193729" y="8022431"/>
            <a:ext cx="6254428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93729" y="7144345"/>
            <a:ext cx="613726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co-primary outcomes; procedure not established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11448157" y="8022431"/>
            <a:ext cx="59254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448157" y="7144345"/>
            <a:ext cx="610320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assume both-pass or either-pass rule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914400" y="8303419"/>
            <a:ext cx="57150" cy="552450"/>
          </a:xfrm>
          <a:prstGeom prst="rect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276350" y="8379619"/>
            <a:ext cx="17706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isn’t a research gap to close — it’s a real fact about the evidence base.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914400" y="93669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4400" y="95860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02_research/nct06245408_risk_note.md.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68996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Fc-free engineering addresses a known mechanism — Phase 2 safety still warrants careful scrutiny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2330946"/>
            <a:ext cx="181051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EXHIBIT — SELECTED SERIOUS OBSERVATIONS, NOT AN EXHAUSTIVE SAFETY TABLE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369171"/>
            <a:ext cx="4279329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931021"/>
            <a:ext cx="41029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93729" y="3369171"/>
            <a:ext cx="2633439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93729" y="2931021"/>
            <a:ext cx="24076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827169" y="3369171"/>
            <a:ext cx="9546431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27169" y="2931021"/>
            <a:ext cx="98328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Attribution and precise timing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480620"/>
            <a:ext cx="427932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597771"/>
            <a:ext cx="4102909" cy="71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DVT and drug-induced liver injury, same participant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5193729" y="4480620"/>
            <a:ext cx="263343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93729" y="3597771"/>
            <a:ext cx="2407642" cy="71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1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7827169" y="4480620"/>
            <a:ext cx="954643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27169" y="3597771"/>
            <a:ext cx="9832824" cy="711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investigator-attributed as related; onset 180 days after last DAZ dose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14400" y="5243513"/>
            <a:ext cx="427932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699695"/>
            <a:ext cx="410290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Invasive ductal breast carcinoma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5193729" y="5243513"/>
            <a:ext cx="263343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93729" y="4699695"/>
            <a:ext cx="240764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2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7827169" y="5243513"/>
            <a:ext cx="954643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27169" y="4699695"/>
            <a:ext cx="9832824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Investigator-attributed as related; onset 139 days after last dose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14400" y="7009209"/>
            <a:ext cx="427932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5462588"/>
            <a:ext cx="4102909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death, unknown cause following COVID-19 diagnosis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5193729" y="7009209"/>
            <a:ext cx="2633439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93729" y="5462588"/>
            <a:ext cx="2407642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1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7827169" y="7009209"/>
            <a:ext cx="954643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827169" y="5462588"/>
            <a:ext cx="9832824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 reported during Stage I per the paper’s text; investigators considered it unrelated; the death itself is tabulated under the Stage II+follow-up safety window (46 days post-last-dose) in Table 3. Both facts are accurate and reported together here, not simplified to one label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914400" y="7404497"/>
            <a:ext cx="16952976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investigator-attributed serious events in two participants, plus a separately described unrelated death. Individual events in a small trial establish neither causation nor absence of risk.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14400" y="8303568"/>
            <a:ext cx="181051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807"/>
              </a:lnSpc>
              <a:buNone/>
            </a:pPr>
            <a:r>
              <a:rPr lang="en-US" sz="1875" dirty="0">
                <a:solidFill>
                  <a:srgbClr val="415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Denominators: Stage I systemic DAZ n=36; Stage II systemic DAZ→placebo n=34; symptomatic safety set n=48.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78496"/>
            <a:ext cx="16459200" cy="19050"/>
          </a:xfrm>
          <a:prstGeom prst="rect">
            <a:avLst/>
          </a:prstGeom>
          <a:solidFill>
            <a:srgbClr val="7FB3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495300"/>
            <a:ext cx="14519910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positive systemic forecast stands or falls on the prespecified primary result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5715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178546"/>
            <a:ext cx="57150" cy="1445865"/>
          </a:xfrm>
          <a:prstGeom prst="rect">
            <a:avLst/>
          </a:prstGeom>
          <a:solidFill>
            <a:srgbClr val="7FB3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76350" y="2216646"/>
            <a:ext cx="177069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7FB3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76350" y="2645271"/>
            <a:ext cx="15304770" cy="97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563"/>
              </a:lnSpc>
              <a:buNone/>
            </a:pPr>
            <a:r>
              <a:rPr lang="en-US" sz="2850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 positive ESSDAI efficacy in NCT06104124; favorable ESSPRI evidence with unresolved full-trial interpretation for NCT06245408.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4443561"/>
            <a:ext cx="7571184" cy="19050"/>
          </a:xfrm>
          <a:prstGeom prst="rect">
            <a:avLst/>
          </a:prstGeom>
          <a:solidFill>
            <a:srgbClr val="4A5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4005411"/>
            <a:ext cx="74173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A9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Readout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85584" y="4443561"/>
            <a:ext cx="8888016" cy="19050"/>
          </a:xfrm>
          <a:prstGeom prst="rect">
            <a:avLst/>
          </a:prstGeom>
          <a:solidFill>
            <a:srgbClr val="4A5A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85584" y="4005411"/>
            <a:ext cx="915465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A9B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5220742"/>
            <a:ext cx="7571184" cy="9525"/>
          </a:xfrm>
          <a:prstGeom prst="rect">
            <a:avLst/>
          </a:prstGeom>
          <a:solidFill>
            <a:srgbClr val="2E3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672161"/>
            <a:ext cx="7417320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Prespecified primary procedure met, consistent dose results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8485584" y="5220742"/>
            <a:ext cx="8888016" cy="9525"/>
          </a:xfrm>
          <a:prstGeom prst="rect">
            <a:avLst/>
          </a:prstGeom>
          <a:solidFill>
            <a:srgbClr val="2E3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85584" y="4672161"/>
            <a:ext cx="9154656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forecast; assess magnitude and safety separately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14400" y="5983635"/>
            <a:ext cx="7571184" cy="9525"/>
          </a:xfrm>
          <a:prstGeom prst="rect">
            <a:avLst/>
          </a:prstGeom>
          <a:solidFill>
            <a:srgbClr val="2E3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5439817"/>
            <a:ext cx="741732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met, modest effect or mixed supportive outcomes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8485584" y="5983635"/>
            <a:ext cx="8888016" cy="9525"/>
          </a:xfrm>
          <a:prstGeom prst="rect">
            <a:avLst/>
          </a:prstGeom>
          <a:solidFill>
            <a:srgbClr val="2E3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85584" y="5439817"/>
            <a:ext cx="915465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win with a more qualified clinical interpretation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914400" y="6746528"/>
            <a:ext cx="7571184" cy="9525"/>
          </a:xfrm>
          <a:prstGeom prst="rect">
            <a:avLst/>
          </a:prstGeom>
          <a:solidFill>
            <a:srgbClr val="2E3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6202710"/>
            <a:ext cx="741732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Prespecified primary procedure not met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8485584" y="6746528"/>
            <a:ext cx="8888016" cy="9525"/>
          </a:xfrm>
          <a:prstGeom prst="rect">
            <a:avLst/>
          </a:prstGeom>
          <a:solidFill>
            <a:srgbClr val="2E3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85584" y="6202710"/>
            <a:ext cx="915465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was wrong — evaluate why without redefining success post hoc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14400" y="7509421"/>
            <a:ext cx="7571184" cy="9525"/>
          </a:xfrm>
          <a:prstGeom prst="rect">
            <a:avLst/>
          </a:prstGeom>
          <a:solidFill>
            <a:srgbClr val="2E3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6965603"/>
            <a:ext cx="741732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Efficacy positive, concerning safety pattern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8485584" y="7509421"/>
            <a:ext cx="8888016" cy="9525"/>
          </a:xfrm>
          <a:prstGeom prst="rect">
            <a:avLst/>
          </a:prstGeom>
          <a:solidFill>
            <a:srgbClr val="2E3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85584" y="6965603"/>
            <a:ext cx="915465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2025" dirty="0">
                <a:solidFill>
                  <a:srgbClr val="FAF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Efficacy call may be right while benefit-risk remains unfavorable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914400" y="7904708"/>
            <a:ext cx="15893415" cy="1092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067"/>
              </a:lnSpc>
              <a:buNone/>
            </a:pPr>
            <a:r>
              <a:rPr lang="en-US" sz="1950" dirty="0">
                <a:solidFill>
                  <a:srgbClr val="C9D2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export: systemic primary completion July 23, 2026; study completion August 17, 2026 (both actual). Symptomatic: primary completion est. October 22, 2026; study completion est. December 17, 2026. Completion is not disclosure — no specific announcement date is established here.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14400" y="9366945"/>
            <a:ext cx="16459200" cy="9525"/>
          </a:xfrm>
          <a:prstGeom prst="rect">
            <a:avLst/>
          </a:prstGeom>
          <a:solidFill>
            <a:srgbClr val="2E3B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95860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8A9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01_data/, 03_analysis/final_thesis.md.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07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1401894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1 — Registry facts and unresolved design fields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298948"/>
            <a:ext cx="4937745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60798"/>
            <a:ext cx="47048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852145" y="2298948"/>
            <a:ext cx="576069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45" y="1860798"/>
            <a:ext cx="55525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Systemic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612835" y="2298948"/>
            <a:ext cx="5760765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612835" y="1860798"/>
            <a:ext cx="59335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Symptomatic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008561"/>
            <a:ext cx="49377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489448"/>
            <a:ext cx="4704877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852145" y="3008561"/>
            <a:ext cx="576069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45" y="2489448"/>
            <a:ext cx="5552511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NCT06104124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612835" y="3008561"/>
            <a:ext cx="576076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612835" y="2441823"/>
            <a:ext cx="59335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NCT06245408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3703886"/>
            <a:ext cx="49377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189536"/>
            <a:ext cx="4704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852145" y="3703886"/>
            <a:ext cx="576069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2145" y="3189536"/>
            <a:ext cx="5552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651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1612835" y="3703886"/>
            <a:ext cx="576076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612835" y="3141911"/>
            <a:ext cx="59335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434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14400" y="4399211"/>
            <a:ext cx="49377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3884861"/>
            <a:ext cx="4704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5852145" y="4399211"/>
            <a:ext cx="576069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45" y="3884861"/>
            <a:ext cx="5552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1612835" y="4399211"/>
            <a:ext cx="576076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612835" y="3837236"/>
            <a:ext cx="59335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Active, not recruiting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14400" y="5094536"/>
            <a:ext cx="49377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4580186"/>
            <a:ext cx="4704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outcomes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5852145" y="5094536"/>
            <a:ext cx="576069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52145" y="4580186"/>
            <a:ext cx="5552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ESSDAI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1612835" y="5094536"/>
            <a:ext cx="576076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612835" y="4532561"/>
            <a:ext cx="59335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ESSPRI; DASPRI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914400" y="5789861"/>
            <a:ext cx="49377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14400" y="5275511"/>
            <a:ext cx="4704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assessment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5852145" y="5789861"/>
            <a:ext cx="576069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52145" y="5275511"/>
            <a:ext cx="5552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48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1612835" y="5789861"/>
            <a:ext cx="576076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1612835" y="5227886"/>
            <a:ext cx="59335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48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914400" y="6485186"/>
            <a:ext cx="49377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14400" y="5970836"/>
            <a:ext cx="4704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completion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5852145" y="6485186"/>
            <a:ext cx="576069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852145" y="5970836"/>
            <a:ext cx="5552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2026-07-23 (actual)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11612835" y="6485186"/>
            <a:ext cx="576076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1612835" y="5923211"/>
            <a:ext cx="59335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2026-10-22 (estimated)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914400" y="7180511"/>
            <a:ext cx="493774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14400" y="6666161"/>
            <a:ext cx="47048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completion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5852145" y="7180511"/>
            <a:ext cx="5760690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852145" y="6666161"/>
            <a:ext cx="5552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2026-08-17 (actual)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11612835" y="7180511"/>
            <a:ext cx="576076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1612835" y="6618536"/>
            <a:ext cx="593358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2026-12-17 (estimated)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914400" y="7575798"/>
            <a:ext cx="15893415" cy="1092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067"/>
              </a:lnSpc>
              <a:buNone/>
            </a:pPr>
            <a:r>
              <a:rPr lang="en-US" sz="1950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not represented by the registry export: arm doses/frequency, allocation ratio, full eligibility text, background-treatment stability, rescue rules, complete outcome definitions, protocol/SAP, analysis population, actual/estimated date flags beyond what’s shown. Do not present this table as a complete protocol abstraction.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3CE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01_data/NCT06104124.csv, 01_data/NCT06245408.csv.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33847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419100"/>
            <a:ext cx="15171093" cy="524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2080"/>
              </a:lnSpc>
              <a:buNone/>
            </a:pPr>
            <a:r>
              <a:rPr lang="en-US" sz="3300" b="1" kern="0" spc="-33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2 — Baseline characteristics (verified directly against Table 1, page 4)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7036728" y="4953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153022"/>
            <a:ext cx="3362027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457697"/>
            <a:ext cx="3272388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9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Characteristic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76427" y="2153022"/>
            <a:ext cx="1451521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0227" y="1457697"/>
            <a:ext cx="1337221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kern="0" spc="9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1 Placebo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27948" y="2153022"/>
            <a:ext cx="1428155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51748" y="1457697"/>
            <a:ext cx="131385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kern="0" spc="90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1 DAZ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156103" y="2153022"/>
            <a:ext cx="1451521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79903" y="1457697"/>
            <a:ext cx="1337221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kern="0" spc="9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2 Placebo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07623" y="2153022"/>
            <a:ext cx="1154385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31423" y="1457697"/>
            <a:ext cx="123058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kern="0" spc="90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2 DAZ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26578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257797"/>
            <a:ext cx="32723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4276427" y="26578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0227" y="2257797"/>
            <a:ext cx="13372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5727948" y="26578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51748" y="2257797"/>
            <a:ext cx="13138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7156103" y="26578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79903" y="2257797"/>
            <a:ext cx="13372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8607623" y="26578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31423" y="2257797"/>
            <a:ext cx="12305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14400" y="34579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2753097"/>
            <a:ext cx="32723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ESSDAI, mean (SD)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4276427" y="34579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00227" y="27530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 (4.1)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5727948" y="34579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51748" y="27530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11.4 (4.5)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156103" y="34579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79903" y="27530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 (1.6)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8607623" y="34579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31423" y="27530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 (1.8)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914400" y="42580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14400" y="3553197"/>
            <a:ext cx="32723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ESSPRI total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4276427" y="42580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00227" y="35531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6.6 (1.8)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5727948" y="42580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51748" y="35531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6.6 (1.6)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7156103" y="42580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079903" y="35531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 (1.1)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8607623" y="42580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531423" y="35531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 (1.5)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914400" y="50581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143000" y="4353297"/>
            <a:ext cx="30437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Dryness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4276427" y="50581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200227" y="43532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6.9 (2.3)</a:t>
            </a:r>
            <a:endParaRPr lang="en-US" sz="1875" dirty="0"/>
          </a:p>
        </p:txBody>
      </p:sp>
      <p:sp>
        <p:nvSpPr>
          <p:cNvPr id="49" name="Shape 47"/>
          <p:cNvSpPr/>
          <p:nvPr/>
        </p:nvSpPr>
        <p:spPr>
          <a:xfrm>
            <a:off x="5727948" y="50581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651748" y="43532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7.3 (1.7)</a:t>
            </a:r>
            <a:endParaRPr lang="en-US" sz="1875" dirty="0"/>
          </a:p>
        </p:txBody>
      </p:sp>
      <p:sp>
        <p:nvSpPr>
          <p:cNvPr id="51" name="Shape 49"/>
          <p:cNvSpPr/>
          <p:nvPr/>
        </p:nvSpPr>
        <p:spPr>
          <a:xfrm>
            <a:off x="7156103" y="50581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079903" y="43532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 (1.2)</a:t>
            </a:r>
            <a:endParaRPr lang="en-US" sz="1875" dirty="0"/>
          </a:p>
        </p:txBody>
      </p:sp>
      <p:sp>
        <p:nvSpPr>
          <p:cNvPr id="53" name="Shape 51"/>
          <p:cNvSpPr/>
          <p:nvPr/>
        </p:nvSpPr>
        <p:spPr>
          <a:xfrm>
            <a:off x="8607623" y="50581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531423" y="43532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 (1.6)</a:t>
            </a:r>
            <a:endParaRPr lang="en-US" sz="1875" dirty="0"/>
          </a:p>
        </p:txBody>
      </p:sp>
      <p:sp>
        <p:nvSpPr>
          <p:cNvPr id="55" name="Shape 53"/>
          <p:cNvSpPr/>
          <p:nvPr/>
        </p:nvSpPr>
        <p:spPr>
          <a:xfrm>
            <a:off x="914400" y="58582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143000" y="5153397"/>
            <a:ext cx="30437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</a:t>
            </a:r>
            <a:endParaRPr lang="en-US" sz="1875" dirty="0"/>
          </a:p>
        </p:txBody>
      </p:sp>
      <p:sp>
        <p:nvSpPr>
          <p:cNvPr id="57" name="Shape 55"/>
          <p:cNvSpPr/>
          <p:nvPr/>
        </p:nvSpPr>
        <p:spPr>
          <a:xfrm>
            <a:off x="4276427" y="58582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200227" y="51533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 (2.2)</a:t>
            </a:r>
            <a:endParaRPr lang="en-US" sz="1875" dirty="0"/>
          </a:p>
        </p:txBody>
      </p:sp>
      <p:sp>
        <p:nvSpPr>
          <p:cNvPr id="59" name="Shape 57"/>
          <p:cNvSpPr/>
          <p:nvPr/>
        </p:nvSpPr>
        <p:spPr>
          <a:xfrm>
            <a:off x="5727948" y="58582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651748" y="51533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 (1.7)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7156103" y="58582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079903" y="51533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 (1.8)</a:t>
            </a:r>
            <a:endParaRPr lang="en-US" sz="1875" dirty="0"/>
          </a:p>
        </p:txBody>
      </p:sp>
      <p:sp>
        <p:nvSpPr>
          <p:cNvPr id="63" name="Shape 61"/>
          <p:cNvSpPr/>
          <p:nvPr/>
        </p:nvSpPr>
        <p:spPr>
          <a:xfrm>
            <a:off x="8607623" y="58582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531423" y="51533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 (1.8)</a:t>
            </a:r>
            <a:endParaRPr lang="en-US" sz="1875" dirty="0"/>
          </a:p>
        </p:txBody>
      </p:sp>
      <p:sp>
        <p:nvSpPr>
          <p:cNvPr id="65" name="Shape 63"/>
          <p:cNvSpPr/>
          <p:nvPr/>
        </p:nvSpPr>
        <p:spPr>
          <a:xfrm>
            <a:off x="914400" y="66583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143000" y="5953497"/>
            <a:ext cx="30437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1875" dirty="0"/>
          </a:p>
        </p:txBody>
      </p:sp>
      <p:sp>
        <p:nvSpPr>
          <p:cNvPr id="67" name="Shape 65"/>
          <p:cNvSpPr/>
          <p:nvPr/>
        </p:nvSpPr>
        <p:spPr>
          <a:xfrm>
            <a:off x="4276427" y="66583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200227" y="59534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 (2.3)</a:t>
            </a:r>
            <a:endParaRPr lang="en-US" sz="1875" dirty="0"/>
          </a:p>
        </p:txBody>
      </p:sp>
      <p:sp>
        <p:nvSpPr>
          <p:cNvPr id="69" name="Shape 67"/>
          <p:cNvSpPr/>
          <p:nvPr/>
        </p:nvSpPr>
        <p:spPr>
          <a:xfrm>
            <a:off x="5727948" y="66583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651748" y="59534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5.5 (3.0)</a:t>
            </a:r>
            <a:endParaRPr lang="en-US" sz="1875" dirty="0"/>
          </a:p>
        </p:txBody>
      </p:sp>
      <p:sp>
        <p:nvSpPr>
          <p:cNvPr id="71" name="Shape 69"/>
          <p:cNvSpPr/>
          <p:nvPr/>
        </p:nvSpPr>
        <p:spPr>
          <a:xfrm>
            <a:off x="7156103" y="66583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079903" y="59534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6.3 (1.9)</a:t>
            </a:r>
            <a:endParaRPr lang="en-US" sz="1875" dirty="0"/>
          </a:p>
        </p:txBody>
      </p:sp>
      <p:sp>
        <p:nvSpPr>
          <p:cNvPr id="73" name="Shape 71"/>
          <p:cNvSpPr/>
          <p:nvPr/>
        </p:nvSpPr>
        <p:spPr>
          <a:xfrm>
            <a:off x="8607623" y="66583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531423" y="59534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6.6 (2.6)</a:t>
            </a:r>
            <a:endParaRPr lang="en-US" sz="1875" dirty="0"/>
          </a:p>
        </p:txBody>
      </p:sp>
      <p:sp>
        <p:nvSpPr>
          <p:cNvPr id="75" name="Shape 73"/>
          <p:cNvSpPr/>
          <p:nvPr/>
        </p:nvSpPr>
        <p:spPr>
          <a:xfrm>
            <a:off x="914400" y="74584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914400" y="6753597"/>
            <a:ext cx="32723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OSDI</a:t>
            </a:r>
            <a:endParaRPr lang="en-US" sz="1875" dirty="0"/>
          </a:p>
        </p:txBody>
      </p:sp>
      <p:sp>
        <p:nvSpPr>
          <p:cNvPr id="77" name="Shape 75"/>
          <p:cNvSpPr/>
          <p:nvPr/>
        </p:nvSpPr>
        <p:spPr>
          <a:xfrm>
            <a:off x="4276427" y="74584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200227" y="67535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40.0 (20.9)</a:t>
            </a:r>
            <a:endParaRPr lang="en-US" sz="1875" dirty="0"/>
          </a:p>
        </p:txBody>
      </p:sp>
      <p:sp>
        <p:nvSpPr>
          <p:cNvPr id="79" name="Shape 77"/>
          <p:cNvSpPr/>
          <p:nvPr/>
        </p:nvSpPr>
        <p:spPr>
          <a:xfrm>
            <a:off x="5727948" y="74584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651748" y="67535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48.7 (25.0)</a:t>
            </a:r>
            <a:endParaRPr lang="en-US" sz="1875" dirty="0"/>
          </a:p>
        </p:txBody>
      </p:sp>
      <p:sp>
        <p:nvSpPr>
          <p:cNvPr id="81" name="Shape 79"/>
          <p:cNvSpPr/>
          <p:nvPr/>
        </p:nvSpPr>
        <p:spPr>
          <a:xfrm>
            <a:off x="7156103" y="74584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079903" y="67535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48.6 (19.2)</a:t>
            </a:r>
            <a:endParaRPr lang="en-US" sz="1875" dirty="0"/>
          </a:p>
        </p:txBody>
      </p:sp>
      <p:sp>
        <p:nvSpPr>
          <p:cNvPr id="83" name="Shape 81"/>
          <p:cNvSpPr/>
          <p:nvPr/>
        </p:nvSpPr>
        <p:spPr>
          <a:xfrm>
            <a:off x="8607623" y="74584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531423" y="67535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48.2 (23.8)</a:t>
            </a:r>
            <a:endParaRPr lang="en-US" sz="1875" dirty="0"/>
          </a:p>
        </p:txBody>
      </p:sp>
      <p:sp>
        <p:nvSpPr>
          <p:cNvPr id="85" name="Shape 83"/>
          <p:cNvSpPr/>
          <p:nvPr/>
        </p:nvSpPr>
        <p:spPr>
          <a:xfrm>
            <a:off x="914400" y="82585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14400" y="7553697"/>
            <a:ext cx="32723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2069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Stimulated salivary flow, mL/min</a:t>
            </a:r>
            <a:endParaRPr lang="en-US" sz="1875" dirty="0"/>
          </a:p>
        </p:txBody>
      </p:sp>
      <p:sp>
        <p:nvSpPr>
          <p:cNvPr id="87" name="Shape 85"/>
          <p:cNvSpPr/>
          <p:nvPr/>
        </p:nvSpPr>
        <p:spPr>
          <a:xfrm>
            <a:off x="4276427" y="82585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4200227" y="75536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 (0.85)</a:t>
            </a:r>
            <a:endParaRPr lang="en-US" sz="1875" dirty="0"/>
          </a:p>
        </p:txBody>
      </p:sp>
      <p:sp>
        <p:nvSpPr>
          <p:cNvPr id="89" name="Shape 87"/>
          <p:cNvSpPr/>
          <p:nvPr/>
        </p:nvSpPr>
        <p:spPr>
          <a:xfrm>
            <a:off x="5727948" y="82585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651748" y="75536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0.88 (0.64)</a:t>
            </a:r>
            <a:endParaRPr lang="en-US" sz="1875" dirty="0"/>
          </a:p>
        </p:txBody>
      </p:sp>
      <p:sp>
        <p:nvSpPr>
          <p:cNvPr id="91" name="Shape 89"/>
          <p:cNvSpPr/>
          <p:nvPr/>
        </p:nvSpPr>
        <p:spPr>
          <a:xfrm>
            <a:off x="7156103" y="82585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7079903" y="75536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0.83 (0.83)</a:t>
            </a:r>
            <a:endParaRPr lang="en-US" sz="1875" dirty="0"/>
          </a:p>
        </p:txBody>
      </p:sp>
      <p:sp>
        <p:nvSpPr>
          <p:cNvPr id="93" name="Shape 91"/>
          <p:cNvSpPr/>
          <p:nvPr/>
        </p:nvSpPr>
        <p:spPr>
          <a:xfrm>
            <a:off x="8607623" y="82585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8531423" y="75536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1.10 (1.18)</a:t>
            </a:r>
            <a:endParaRPr lang="en-US" sz="1875" dirty="0"/>
          </a:p>
        </p:txBody>
      </p:sp>
      <p:sp>
        <p:nvSpPr>
          <p:cNvPr id="95" name="Shape 93"/>
          <p:cNvSpPr/>
          <p:nvPr/>
        </p:nvSpPr>
        <p:spPr>
          <a:xfrm>
            <a:off x="914400" y="9058647"/>
            <a:ext cx="336202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914400" y="8353797"/>
            <a:ext cx="32723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Concomitant RA/SLE</a:t>
            </a:r>
            <a:endParaRPr lang="en-US" sz="1875" dirty="0"/>
          </a:p>
        </p:txBody>
      </p:sp>
      <p:sp>
        <p:nvSpPr>
          <p:cNvPr id="97" name="Shape 95"/>
          <p:cNvSpPr/>
          <p:nvPr/>
        </p:nvSpPr>
        <p:spPr>
          <a:xfrm>
            <a:off x="4276427" y="90586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4200227" y="83537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(23.7%)</a:t>
            </a:r>
            <a:endParaRPr lang="en-US" sz="1875" dirty="0"/>
          </a:p>
        </p:txBody>
      </p:sp>
      <p:sp>
        <p:nvSpPr>
          <p:cNvPr id="99" name="Shape 97"/>
          <p:cNvSpPr/>
          <p:nvPr/>
        </p:nvSpPr>
        <p:spPr>
          <a:xfrm>
            <a:off x="5727948" y="9058647"/>
            <a:ext cx="14281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5651748" y="8353797"/>
            <a:ext cx="13138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(19.4%)</a:t>
            </a:r>
            <a:endParaRPr lang="en-US" sz="1875" dirty="0"/>
          </a:p>
        </p:txBody>
      </p:sp>
      <p:sp>
        <p:nvSpPr>
          <p:cNvPr id="101" name="Shape 99"/>
          <p:cNvSpPr/>
          <p:nvPr/>
        </p:nvSpPr>
        <p:spPr>
          <a:xfrm>
            <a:off x="7156103" y="9058647"/>
            <a:ext cx="1451521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7079903" y="8353797"/>
            <a:ext cx="1337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(12.7%)</a:t>
            </a:r>
            <a:endParaRPr lang="en-US" sz="1875" dirty="0"/>
          </a:p>
        </p:txBody>
      </p:sp>
      <p:sp>
        <p:nvSpPr>
          <p:cNvPr id="103" name="Shape 101"/>
          <p:cNvSpPr/>
          <p:nvPr/>
        </p:nvSpPr>
        <p:spPr>
          <a:xfrm>
            <a:off x="8607623" y="9058647"/>
            <a:ext cx="11543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8531423" y="8353797"/>
            <a:ext cx="123058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(7.4%)</a:t>
            </a:r>
            <a:endParaRPr lang="en-US" sz="1875" dirty="0"/>
          </a:p>
        </p:txBody>
      </p:sp>
      <p:sp>
        <p:nvSpPr>
          <p:cNvPr id="105" name="Text 103"/>
          <p:cNvSpPr/>
          <p:nvPr/>
        </p:nvSpPr>
        <p:spPr>
          <a:xfrm>
            <a:off x="10295409" y="1457697"/>
            <a:ext cx="729046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Schirmer’s criterion: ≤5mm/5min in at least one eye (corrected from an earlier transcription error — this direction is confirmed against the source).</a:t>
            </a:r>
            <a:endParaRPr lang="en-US" sz="1875" dirty="0"/>
          </a:p>
        </p:txBody>
      </p:sp>
      <p:sp>
        <p:nvSpPr>
          <p:cNvPr id="106" name="Shape 104"/>
          <p:cNvSpPr/>
          <p:nvPr/>
        </p:nvSpPr>
        <p:spPr>
          <a:xfrm>
            <a:off x="10295409" y="2667372"/>
            <a:ext cx="7078117" cy="3200400"/>
          </a:xfrm>
          <a:prstGeom prst="rect">
            <a:avLst/>
          </a:prstGeom>
          <a:solidFill>
            <a:srgbClr val="FAF9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10295409" y="2667372"/>
            <a:ext cx="57150" cy="3200400"/>
          </a:xfrm>
          <a:prstGeom prst="rect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10619259" y="2895972"/>
            <a:ext cx="71363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1800" dirty="0"/>
          </a:p>
        </p:txBody>
      </p:sp>
      <p:sp>
        <p:nvSpPr>
          <p:cNvPr id="109" name="Text 107"/>
          <p:cNvSpPr/>
          <p:nvPr/>
        </p:nvSpPr>
        <p:spPr>
          <a:xfrm>
            <a:off x="10619259" y="3305547"/>
            <a:ext cx="6682194" cy="237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re-verified directly against the rendered Table 1 image three separate times across this project’s review history, after two external reviews proposed alternate Pop. 2 ESSPRI-total/Dryness/OSDI/salivary-flow values. Each re-check matched the values above, not the proposed alternates (which appear to reflect a row-transposition error repeated across both reviews). Use the values above.</a:t>
            </a:r>
            <a:endParaRPr lang="en-US" sz="1875" dirty="0"/>
          </a:p>
        </p:txBody>
      </p:sp>
      <p:sp>
        <p:nvSpPr>
          <p:cNvPr id="110" name="Text 108"/>
          <p:cNvSpPr/>
          <p:nvPr/>
        </p:nvSpPr>
        <p:spPr>
          <a:xfrm>
            <a:off x="10295409" y="6077322"/>
            <a:ext cx="72904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background therapy: Population 1 had 59.5% antimalarial, 41.9% glucocorticoid, 31.1% conventional DMARD use overall. Population 2 cholinergic agonist use differed: 11.1% DAZ vs. 27.3% placebo.</a:t>
            </a:r>
            <a:endParaRPr lang="en-US" sz="1875" dirty="0"/>
          </a:p>
        </p:txBody>
      </p:sp>
      <p:sp>
        <p:nvSpPr>
          <p:cNvPr id="111" name="Shape 109"/>
          <p:cNvSpPr/>
          <p:nvPr/>
        </p:nvSpPr>
        <p:spPr>
          <a:xfrm>
            <a:off x="914400" y="9424095"/>
            <a:ext cx="16459200" cy="9525"/>
          </a:xfrm>
          <a:prstGeom prst="rect">
            <a:avLst/>
          </a:prstGeom>
          <a:solidFill>
            <a:srgbClr val="D3CE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914400" y="96241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02_research/phase2_baseline_characteristics.md, verified against 00_reference/phase2_paper.pdf Table 1.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07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0875236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3 — Supportive outcomes and domain scope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298948"/>
            <a:ext cx="4318843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860798"/>
            <a:ext cx="40674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Day-169 outcome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233243" y="2298948"/>
            <a:ext cx="2969196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33243" y="1860798"/>
            <a:ext cx="267727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02439" y="2298948"/>
            <a:ext cx="4736455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60345" y="1860798"/>
            <a:ext cx="44975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DAZ / Placebo change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938894" y="2298948"/>
            <a:ext cx="1471985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62694" y="1860798"/>
            <a:ext cx="15481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p-value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008561"/>
            <a:ext cx="43188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489448"/>
            <a:ext cx="406740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ESSPRI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233243" y="3008561"/>
            <a:ext cx="296919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33243" y="2489448"/>
            <a:ext cx="2677271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202439" y="3008561"/>
            <a:ext cx="47364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60345" y="2489448"/>
            <a:ext cx="449754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−1.8 / −1.1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2938894" y="3008561"/>
            <a:ext cx="14719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862694" y="2441823"/>
            <a:ext cx="154818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0.1110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4400" y="3703886"/>
            <a:ext cx="43188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189536"/>
            <a:ext cx="40674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FACIT-Fatigue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233243" y="3703886"/>
            <a:ext cx="296919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33243" y="3189536"/>
            <a:ext cx="26772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8202439" y="3703886"/>
            <a:ext cx="47364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60345" y="3189536"/>
            <a:ext cx="44975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+8.1 / +5.8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2938894" y="3703886"/>
            <a:ext cx="14719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862694" y="3141911"/>
            <a:ext cx="15481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0.3028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14400" y="4399211"/>
            <a:ext cx="43188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3884861"/>
            <a:ext cx="40674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FACIT-Fatigue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5233243" y="4399211"/>
            <a:ext cx="296919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33243" y="3884861"/>
            <a:ext cx="26772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Symptomatic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8202439" y="4399211"/>
            <a:ext cx="47364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060345" y="3884861"/>
            <a:ext cx="44975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+8.1 / +2.8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12938894" y="4399211"/>
            <a:ext cx="14719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2862694" y="3837236"/>
            <a:ext cx="15481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B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0.0095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914400" y="5094536"/>
            <a:ext cx="43188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4400" y="4580186"/>
            <a:ext cx="40674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OSDI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5233243" y="5094536"/>
            <a:ext cx="296919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33243" y="4580186"/>
            <a:ext cx="26772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8202439" y="5094536"/>
            <a:ext cx="47364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060345" y="4580186"/>
            <a:ext cx="44975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−16.00 / −14.02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2938894" y="5094536"/>
            <a:ext cx="14719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2862694" y="4532561"/>
            <a:ext cx="15481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0.6583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914400" y="5789861"/>
            <a:ext cx="43188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14400" y="5275511"/>
            <a:ext cx="40674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OSDI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5233243" y="5789861"/>
            <a:ext cx="296919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233243" y="5275511"/>
            <a:ext cx="26772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Symptomatic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8202439" y="5789861"/>
            <a:ext cx="47364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060345" y="5275511"/>
            <a:ext cx="44975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−13.95 / −8.52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12938894" y="5789861"/>
            <a:ext cx="14719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2862694" y="5227886"/>
            <a:ext cx="15481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0.1936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914400" y="6488981"/>
            <a:ext cx="43188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4400" y="5970836"/>
            <a:ext cx="406740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Stimulated salivary flow</a:t>
            </a:r>
            <a:endParaRPr lang="en-US" sz="2100" dirty="0"/>
          </a:p>
        </p:txBody>
      </p:sp>
      <p:sp>
        <p:nvSpPr>
          <p:cNvPr id="55" name="Shape 53"/>
          <p:cNvSpPr/>
          <p:nvPr/>
        </p:nvSpPr>
        <p:spPr>
          <a:xfrm>
            <a:off x="5233243" y="6488981"/>
            <a:ext cx="296919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233243" y="5970836"/>
            <a:ext cx="267727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</a:t>
            </a:r>
            <a:endParaRPr lang="en-US" sz="2100" dirty="0"/>
          </a:p>
        </p:txBody>
      </p:sp>
      <p:sp>
        <p:nvSpPr>
          <p:cNvPr id="57" name="Shape 55"/>
          <p:cNvSpPr/>
          <p:nvPr/>
        </p:nvSpPr>
        <p:spPr>
          <a:xfrm>
            <a:off x="8202439" y="6488981"/>
            <a:ext cx="47364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060345" y="5970836"/>
            <a:ext cx="449754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+0.39 / +0.14</a:t>
            </a:r>
            <a:endParaRPr lang="en-US" sz="2100" dirty="0"/>
          </a:p>
        </p:txBody>
      </p:sp>
      <p:sp>
        <p:nvSpPr>
          <p:cNvPr id="59" name="Shape 57"/>
          <p:cNvSpPr/>
          <p:nvPr/>
        </p:nvSpPr>
        <p:spPr>
          <a:xfrm>
            <a:off x="12938894" y="6488981"/>
            <a:ext cx="14719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2862694" y="5923211"/>
            <a:ext cx="154818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0.1330</a:t>
            </a:r>
            <a:endParaRPr lang="en-US" sz="2100" dirty="0"/>
          </a:p>
        </p:txBody>
      </p:sp>
      <p:sp>
        <p:nvSpPr>
          <p:cNvPr id="61" name="Shape 59"/>
          <p:cNvSpPr/>
          <p:nvPr/>
        </p:nvSpPr>
        <p:spPr>
          <a:xfrm>
            <a:off x="914400" y="7188101"/>
            <a:ext cx="4318843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14400" y="6669956"/>
            <a:ext cx="406740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Stimulated salivary flow</a:t>
            </a:r>
            <a:endParaRPr lang="en-US" sz="2100" dirty="0"/>
          </a:p>
        </p:txBody>
      </p:sp>
      <p:sp>
        <p:nvSpPr>
          <p:cNvPr id="63" name="Shape 61"/>
          <p:cNvSpPr/>
          <p:nvPr/>
        </p:nvSpPr>
        <p:spPr>
          <a:xfrm>
            <a:off x="5233243" y="7188101"/>
            <a:ext cx="2969196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233243" y="6669956"/>
            <a:ext cx="2677271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F7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Symptomatic</a:t>
            </a:r>
            <a:endParaRPr lang="en-US" sz="2100" dirty="0"/>
          </a:p>
        </p:txBody>
      </p:sp>
      <p:sp>
        <p:nvSpPr>
          <p:cNvPr id="65" name="Shape 63"/>
          <p:cNvSpPr/>
          <p:nvPr/>
        </p:nvSpPr>
        <p:spPr>
          <a:xfrm>
            <a:off x="8202439" y="7188101"/>
            <a:ext cx="47364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060345" y="6669956"/>
            <a:ext cx="4497549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+0.20 / −0.01</a:t>
            </a:r>
            <a:endParaRPr lang="en-US" sz="2100" dirty="0"/>
          </a:p>
        </p:txBody>
      </p:sp>
      <p:sp>
        <p:nvSpPr>
          <p:cNvPr id="67" name="Shape 65"/>
          <p:cNvSpPr/>
          <p:nvPr/>
        </p:nvSpPr>
        <p:spPr>
          <a:xfrm>
            <a:off x="12938894" y="7188101"/>
            <a:ext cx="147198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2862694" y="6622331"/>
            <a:ext cx="154818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0.2170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914400" y="7583388"/>
            <a:ext cx="1471612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35"/>
              </a:lnSpc>
              <a:buNone/>
            </a:pPr>
            <a:r>
              <a:rPr lang="en-US" sz="202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unadjusted supportive/exploratory p-values. Positive FACIT change = improvement; negative OSDI/ESSPRI change = improvement.</a:t>
            </a:r>
            <a:endParaRPr lang="en-US" sz="2025" dirty="0"/>
          </a:p>
        </p:txBody>
      </p:sp>
      <p:sp>
        <p:nvSpPr>
          <p:cNvPr id="70" name="Shape 68"/>
          <p:cNvSpPr/>
          <p:nvPr/>
        </p:nvSpPr>
        <p:spPr>
          <a:xfrm>
            <a:off x="914400" y="9138345"/>
            <a:ext cx="16459200" cy="9525"/>
          </a:xfrm>
          <a:prstGeom prst="rect">
            <a:avLst/>
          </a:prstGeom>
          <a:solidFill>
            <a:srgbClr val="D3CE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14400" y="93574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464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9269559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4 — Reproducible statistical method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6858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1670298"/>
            <a:ext cx="800174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41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= assumed true positive treatment benefit; n = per-arm sample size; sigma = assumed effective SD.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914400" y="2527548"/>
            <a:ext cx="7768679" cy="2676525"/>
          </a:xfrm>
          <a:prstGeom prst="rect">
            <a:avLst/>
          </a:prstGeom>
          <a:solidFill>
            <a:srgbClr val="FAF9F6"/>
          </a:solidFill>
          <a:ln w="9525">
            <a:solidFill>
              <a:srgbClr val="D3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28725" y="2803773"/>
            <a:ext cx="7854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807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= sigma * sqrt(2 / n)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228725" y="3289548"/>
            <a:ext cx="7854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807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critical_z = inverse_normal_cdf(1 - alpha/2)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228725" y="3775323"/>
            <a:ext cx="7854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807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power(delta) = normal_cdf(delta/SE - critical_z)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228725" y="4261098"/>
            <a:ext cx="735423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807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effect_for_80_percent_power ≈ (critical_z + inverse_normal_cdf(0.80)) * SE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14400" y="5394573"/>
            <a:ext cx="800174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provenance: 3.65 from dazodalibep’s own Phase 2 SEs (approximate back-calculation); 5.00 is the Phase 2 protocol’s own planning SD; 5.47 is the effective SD implied by NEPTUNUS-1’s reported SE. None is the actual, undisclosed dazodalibep Phase 3 variance.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14400" y="6918573"/>
            <a:ext cx="57150" cy="1743075"/>
          </a:xfrm>
          <a:prstGeom prst="rect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8250" y="6956673"/>
            <a:ext cx="7668174" cy="170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Interpretive rule: an assumed true delta produces conditional power, not a guaranteed p-value. NEPTUNUS-1’s SE scaled only for sample size (0.66×√(137/217)=0.524) implies that an observed 1.3-point difference would carry p≈0.013 at dazodalibep’s assumed N — a precision-scaling illustration, not a forecast.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16479" y="2365623"/>
            <a:ext cx="1193304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0279" y="1670298"/>
            <a:ext cx="1040904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9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09783" y="2365623"/>
            <a:ext cx="828377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3583" y="1670298"/>
            <a:ext cx="675977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9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238161" y="2365623"/>
            <a:ext cx="1193304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161961" y="1670298"/>
            <a:ext cx="1040904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9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431464" y="2365623"/>
            <a:ext cx="1193304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355264" y="1670298"/>
            <a:ext cx="1040904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9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624768" y="2365623"/>
            <a:ext cx="1923455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548568" y="1670298"/>
            <a:ext cx="177105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kern="0" spc="9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Observed threshold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548223" y="2365623"/>
            <a:ext cx="1825377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5472023" y="1670298"/>
            <a:ext cx="1901577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11111"/>
              </a:lnSpc>
              <a:buNone/>
            </a:pPr>
            <a:r>
              <a:rPr lang="en-US" sz="1800" kern="0" spc="9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 for ~80% power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216479" y="3089523"/>
            <a:ext cx="11933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0279" y="2575173"/>
            <a:ext cx="1040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3.65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409783" y="3089523"/>
            <a:ext cx="82837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333583" y="2575173"/>
            <a:ext cx="67597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1238161" y="3089523"/>
            <a:ext cx="11933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161961" y="2575173"/>
            <a:ext cx="1040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2431464" y="3089523"/>
            <a:ext cx="11933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2355264" y="2575173"/>
            <a:ext cx="1040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0.350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3624768" y="3089523"/>
            <a:ext cx="19234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548568" y="2575173"/>
            <a:ext cx="17710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0.687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5548223" y="3089523"/>
            <a:ext cx="182537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5472023" y="2518023"/>
            <a:ext cx="190157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0.982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9216479" y="3799136"/>
            <a:ext cx="11933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140279" y="3289548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5.00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0409783" y="3799136"/>
            <a:ext cx="82837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333583" y="3289548"/>
            <a:ext cx="67597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1238161" y="3799136"/>
            <a:ext cx="11933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1161961" y="3289548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12431464" y="3799136"/>
            <a:ext cx="11933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2355264" y="3289548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0.480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3624768" y="3799136"/>
            <a:ext cx="19234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3548568" y="3289548"/>
            <a:ext cx="17710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0.941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5548223" y="3799136"/>
            <a:ext cx="182537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5472023" y="3232398"/>
            <a:ext cx="190157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1.345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9216479" y="4508748"/>
            <a:ext cx="11933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140279" y="3999161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5.47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0409783" y="4508748"/>
            <a:ext cx="82837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333583" y="3999161"/>
            <a:ext cx="67597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11238161" y="4508748"/>
            <a:ext cx="11933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1161961" y="3999161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12431464" y="4508748"/>
            <a:ext cx="11933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2355264" y="3999161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0.525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13624768" y="4508748"/>
            <a:ext cx="19234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3548568" y="3999161"/>
            <a:ext cx="17710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1.029</a:t>
            </a:r>
            <a:endParaRPr lang="en-US" sz="1950" dirty="0"/>
          </a:p>
        </p:txBody>
      </p:sp>
      <p:sp>
        <p:nvSpPr>
          <p:cNvPr id="60" name="Shape 58"/>
          <p:cNvSpPr/>
          <p:nvPr/>
        </p:nvSpPr>
        <p:spPr>
          <a:xfrm>
            <a:off x="15548223" y="4508748"/>
            <a:ext cx="182537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5472023" y="3942011"/>
            <a:ext cx="190157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1.471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9216479" y="5218361"/>
            <a:ext cx="11933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140279" y="4708773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5.47</a:t>
            </a:r>
            <a:endParaRPr lang="en-US" sz="1950" dirty="0"/>
          </a:p>
        </p:txBody>
      </p:sp>
      <p:sp>
        <p:nvSpPr>
          <p:cNvPr id="64" name="Shape 62"/>
          <p:cNvSpPr/>
          <p:nvPr/>
        </p:nvSpPr>
        <p:spPr>
          <a:xfrm>
            <a:off x="10409783" y="5218361"/>
            <a:ext cx="82837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0333583" y="4708773"/>
            <a:ext cx="67597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1950" dirty="0"/>
          </a:p>
        </p:txBody>
      </p:sp>
      <p:sp>
        <p:nvSpPr>
          <p:cNvPr id="66" name="Shape 64"/>
          <p:cNvSpPr/>
          <p:nvPr/>
        </p:nvSpPr>
        <p:spPr>
          <a:xfrm>
            <a:off x="11238161" y="5218361"/>
            <a:ext cx="11933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1161961" y="4708773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0.025</a:t>
            </a:r>
            <a:endParaRPr lang="en-US" sz="1950" dirty="0"/>
          </a:p>
        </p:txBody>
      </p:sp>
      <p:sp>
        <p:nvSpPr>
          <p:cNvPr id="68" name="Shape 66"/>
          <p:cNvSpPr/>
          <p:nvPr/>
        </p:nvSpPr>
        <p:spPr>
          <a:xfrm>
            <a:off x="12431464" y="5218361"/>
            <a:ext cx="11933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2355264" y="4708773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0.525</a:t>
            </a:r>
            <a:endParaRPr lang="en-US" sz="1950" dirty="0"/>
          </a:p>
        </p:txBody>
      </p:sp>
      <p:sp>
        <p:nvSpPr>
          <p:cNvPr id="70" name="Shape 68"/>
          <p:cNvSpPr/>
          <p:nvPr/>
        </p:nvSpPr>
        <p:spPr>
          <a:xfrm>
            <a:off x="13624768" y="5218361"/>
            <a:ext cx="19234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3548568" y="4708773"/>
            <a:ext cx="17710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1.177</a:t>
            </a:r>
            <a:endParaRPr lang="en-US" sz="1950" dirty="0"/>
          </a:p>
        </p:txBody>
      </p:sp>
      <p:sp>
        <p:nvSpPr>
          <p:cNvPr id="72" name="Shape 70"/>
          <p:cNvSpPr/>
          <p:nvPr/>
        </p:nvSpPr>
        <p:spPr>
          <a:xfrm>
            <a:off x="15548223" y="5218361"/>
            <a:ext cx="182537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5472023" y="4651623"/>
            <a:ext cx="190157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1.619</a:t>
            </a:r>
            <a:endParaRPr lang="en-US" sz="1950" dirty="0"/>
          </a:p>
        </p:txBody>
      </p:sp>
      <p:sp>
        <p:nvSpPr>
          <p:cNvPr id="74" name="Shape 72"/>
          <p:cNvSpPr/>
          <p:nvPr/>
        </p:nvSpPr>
        <p:spPr>
          <a:xfrm>
            <a:off x="9216479" y="5927973"/>
            <a:ext cx="11933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140279" y="5418386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5.47</a:t>
            </a:r>
            <a:endParaRPr lang="en-US" sz="1950" dirty="0"/>
          </a:p>
        </p:txBody>
      </p:sp>
      <p:sp>
        <p:nvSpPr>
          <p:cNvPr id="76" name="Shape 74"/>
          <p:cNvSpPr/>
          <p:nvPr/>
        </p:nvSpPr>
        <p:spPr>
          <a:xfrm>
            <a:off x="10409783" y="5927973"/>
            <a:ext cx="82837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0333583" y="5418386"/>
            <a:ext cx="67597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184</a:t>
            </a:r>
            <a:endParaRPr lang="en-US" sz="1950" dirty="0"/>
          </a:p>
        </p:txBody>
      </p:sp>
      <p:sp>
        <p:nvSpPr>
          <p:cNvPr id="78" name="Shape 76"/>
          <p:cNvSpPr/>
          <p:nvPr/>
        </p:nvSpPr>
        <p:spPr>
          <a:xfrm>
            <a:off x="11238161" y="5927973"/>
            <a:ext cx="11933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1161961" y="5418386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0.025</a:t>
            </a:r>
            <a:endParaRPr lang="en-US" sz="1950" dirty="0"/>
          </a:p>
        </p:txBody>
      </p:sp>
      <p:sp>
        <p:nvSpPr>
          <p:cNvPr id="80" name="Shape 78"/>
          <p:cNvSpPr/>
          <p:nvPr/>
        </p:nvSpPr>
        <p:spPr>
          <a:xfrm>
            <a:off x="12431464" y="5927973"/>
            <a:ext cx="1193304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12355264" y="5418386"/>
            <a:ext cx="104090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0.570</a:t>
            </a:r>
            <a:endParaRPr lang="en-US" sz="1950" dirty="0"/>
          </a:p>
        </p:txBody>
      </p:sp>
      <p:sp>
        <p:nvSpPr>
          <p:cNvPr id="82" name="Shape 80"/>
          <p:cNvSpPr/>
          <p:nvPr/>
        </p:nvSpPr>
        <p:spPr>
          <a:xfrm>
            <a:off x="13624768" y="5927973"/>
            <a:ext cx="1923455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13548568" y="5418386"/>
            <a:ext cx="17710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1.278</a:t>
            </a:r>
            <a:endParaRPr lang="en-US" sz="1950" dirty="0"/>
          </a:p>
        </p:txBody>
      </p:sp>
      <p:sp>
        <p:nvSpPr>
          <p:cNvPr id="84" name="Shape 82"/>
          <p:cNvSpPr/>
          <p:nvPr/>
        </p:nvSpPr>
        <p:spPr>
          <a:xfrm>
            <a:off x="15548223" y="5927973"/>
            <a:ext cx="1825377" cy="9525"/>
          </a:xfrm>
          <a:prstGeom prst="rect">
            <a:avLst/>
          </a:prstGeom>
          <a:solidFill>
            <a:srgbClr val="DCD8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15472023" y="5361236"/>
            <a:ext cx="190157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1.758</a:t>
            </a:r>
            <a:endParaRPr lang="en-US" sz="1950" dirty="0"/>
          </a:p>
        </p:txBody>
      </p:sp>
      <p:sp>
        <p:nvSpPr>
          <p:cNvPr id="86" name="Shape 84"/>
          <p:cNvSpPr/>
          <p:nvPr/>
        </p:nvSpPr>
        <p:spPr>
          <a:xfrm>
            <a:off x="914400" y="9233595"/>
            <a:ext cx="16459200" cy="9525"/>
          </a:xfrm>
          <a:prstGeom prst="rect">
            <a:avLst/>
          </a:prstGeom>
          <a:solidFill>
            <a:srgbClr val="D3CE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914400" y="94336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03_analysis/scenario_model.md.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07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685800"/>
            <a:ext cx="11071116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5 — Expanded comparator and safety context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7620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1898898"/>
            <a:ext cx="15304770" cy="795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338"/>
              </a:lnSpc>
              <a:buNone/>
            </a:pPr>
            <a:r>
              <a:rPr lang="en-US" sz="21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pointer slide: the underlying material is too extensive to reproduce legibly here. Each item below is pulled directly from its source file for the full detail.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075384"/>
            <a:ext cx="5232350" cy="4188991"/>
          </a:xfrm>
          <a:prstGeom prst="rect">
            <a:avLst/>
          </a:prstGeom>
          <a:solidFill>
            <a:srgbClr val="FAF9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3075384"/>
            <a:ext cx="5232350" cy="47625"/>
          </a:xfrm>
          <a:prstGeom prst="rect">
            <a:avLst/>
          </a:prstGeom>
          <a:solidFill>
            <a:srgbClr val="1B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8250" y="3465909"/>
            <a:ext cx="47221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589"/>
              </a:lnSpc>
              <a:buNone/>
            </a:pPr>
            <a:r>
              <a:rPr lang="en-US" sz="2400" b="1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Ianalumab — full arm-by-arm data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38250" y="4418409"/>
            <a:ext cx="4722190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Ph2b dose-response model plus individual pairwise arms, and both NEPTUNUS trials, including the every-3-months miss.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38250" y="5995690"/>
            <a:ext cx="4722190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02_research/ianalumab_competitor_analysis.md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7750" y="3075384"/>
            <a:ext cx="5232425" cy="4188991"/>
          </a:xfrm>
          <a:prstGeom prst="rect">
            <a:avLst/>
          </a:prstGeom>
          <a:solidFill>
            <a:srgbClr val="FAF9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27750" y="3075384"/>
            <a:ext cx="5232425" cy="47625"/>
          </a:xfrm>
          <a:prstGeom prst="rect">
            <a:avLst/>
          </a:prstGeom>
          <a:solidFill>
            <a:srgbClr val="A886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1600" y="3465909"/>
            <a:ext cx="4722267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589"/>
              </a:lnSpc>
              <a:buNone/>
            </a:pPr>
            <a:r>
              <a:rPr lang="en-US" sz="2400" b="1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evidence — complete table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1600" y="4418409"/>
            <a:ext cx="472226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TRACTISS, ETAP, and ASAP-III, with corrected endpoint classifications.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51600" y="5995690"/>
            <a:ext cx="4722267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02_research/historical_trial_evidence.md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141175" y="3075384"/>
            <a:ext cx="5232350" cy="4188991"/>
          </a:xfrm>
          <a:prstGeom prst="rect">
            <a:avLst/>
          </a:prstGeom>
          <a:solidFill>
            <a:srgbClr val="FAF9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141175" y="3075384"/>
            <a:ext cx="5232350" cy="47625"/>
          </a:xfrm>
          <a:prstGeom prst="rect">
            <a:avLst/>
          </a:prstGeom>
          <a:solidFill>
            <a:srgbClr val="A84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465025" y="3465909"/>
            <a:ext cx="504311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589"/>
              </a:lnSpc>
              <a:buNone/>
            </a:pPr>
            <a:r>
              <a:rPr lang="en-US" sz="2400" b="1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safety — full AE table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465025" y="4037409"/>
            <a:ext cx="472219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adverse events, not only the headline SAEs discussed on Slide 19.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465025" y="6304285"/>
            <a:ext cx="472219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02_research/phase2_results.md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8818364"/>
            <a:ext cx="16459200" cy="9525"/>
          </a:xfrm>
          <a:prstGeom prst="rect">
            <a:avLst/>
          </a:prstGeom>
          <a:solidFill>
            <a:srgbClr val="D3CE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9037439"/>
            <a:ext cx="1695297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02_research/ianalumab_competitor_analysis.md, 02_research/historical_trial_evidence.md, 02_research/phase2_results.md.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46448"/>
            <a:ext cx="16459200" cy="19050"/>
          </a:xfrm>
          <a:prstGeom prst="rect">
            <a:avLst/>
          </a:prstGeom>
          <a:solidFill>
            <a:srgbClr val="17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609600"/>
            <a:ext cx="5724071" cy="546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2615"/>
              </a:lnSpc>
              <a:buNone/>
            </a:pPr>
            <a:r>
              <a:rPr lang="en-US" sz="3450" b="1" kern="0" spc="-34" dirty="0">
                <a:solidFill>
                  <a:srgbClr val="172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6 — Source library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7036728" y="685800"/>
            <a:ext cx="41307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56" dirty="0">
                <a:solidFill>
                  <a:srgbClr val="A84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A6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1708398"/>
            <a:ext cx="150763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1363" y="1708398"/>
            <a:ext cx="7928772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St. Clair EW et al. CD40 ligand antagonist dazodalibep in Sjögren’s disease: a randomized, double-blinded, placebo-controlled, phase 2 trial. Nature Medicine 30, 1583–1592 (2024). DOI: 10.1038/s41591-024-03009-3. Open access (CC-BY 4.0). Local: 00_reference/phase2_paper.pdf.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48800" y="1708398"/>
            <a:ext cx="150763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75763" y="1708398"/>
            <a:ext cx="7928772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Novartis Immunology Pipeline Event, Oct 2025 — NEPTUNUS individual-arm efficacy data.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73475"/>
            <a:ext cx="150763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1363" y="3273475"/>
            <a:ext cx="7928772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ClinicalTrials.gov, NCT06104124 — systemic Phase 3. Local: 01_data/NCT06104124.csv.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48800" y="3273475"/>
            <a:ext cx="150763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75763" y="3273475"/>
            <a:ext cx="7928772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Seror R et al. ESSDAI/ESSPRI MCID and disease-activity states, Ann Rheum Dis.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189363"/>
            <a:ext cx="150763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1363" y="4189363"/>
            <a:ext cx="7928772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ClinicalTrials.gov, NCT06245408 — symptomatic Phase 3. Local: 01_data/NCT06245408.csv.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48800" y="4189363"/>
            <a:ext cx="150763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75763" y="4189363"/>
            <a:ext cx="7928772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 et al. Population PK/PD modeling of dazodalibep. ACR Convergence 2023 abstract.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105251"/>
            <a:ext cx="150763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1363" y="5105251"/>
            <a:ext cx="7928772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Bowman SJ et al. Safety and efficacy of subcutaneous ianalumab in primary Sjögren’s syndrome: phase 2b dose-finding trial. Lancet 399, 161–171 (2022; online 2021). PMID 34861168.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48800" y="5105251"/>
            <a:ext cx="150763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A84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75763" y="5105251"/>
            <a:ext cx="7928772" cy="1336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Felten R et al. Interleukin 6 receptor inhibition in primary Sjögren syndrome: a multicentre double-blind randomised placebo-controlled trial. Annals of the Rheumatic Diseases (2021). PMID 33208345.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6670328"/>
            <a:ext cx="150763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1363" y="6670328"/>
            <a:ext cx="7928772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Fisher BA et al. Safety and efficacy of subcutaneous iscalimab in two distinct populations of patients with Sjögren’s disease (TWINSS). Lancet (2024). PMID 39096929.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48800" y="6670328"/>
            <a:ext cx="150763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75763" y="6670328"/>
            <a:ext cx="7928772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Nimwegen et al., ASAP-III. Primary randomized trial, Lancet Rheumatology.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7910810"/>
            <a:ext cx="150763" cy="362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B6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1363" y="7910810"/>
            <a:ext cx="3415583" cy="362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927"/>
              </a:lnSpc>
              <a:buNone/>
            </a:pPr>
            <a:r>
              <a:rPr lang="en-US" sz="1800" dirty="0">
                <a:solidFill>
                  <a:srgbClr val="172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TRACTISS primary trial report.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4400" y="9233595"/>
            <a:ext cx="16459200" cy="9525"/>
          </a:xfrm>
          <a:prstGeom prst="rect">
            <a:avLst/>
          </a:prstGeom>
          <a:solidFill>
            <a:srgbClr val="D3CE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9433620"/>
            <a:ext cx="1695297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444"/>
              </a:lnSpc>
              <a:buNone/>
            </a:pPr>
            <a:r>
              <a:rPr lang="en-US" sz="1800" dirty="0">
                <a:solidFill>
                  <a:srgbClr val="6F76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Full citation list compiled across 00_reference/, 02_research/, and 03_analysis/.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4540</Words>
  <Application>Microsoft Macintosh PowerPoint</Application>
  <PresentationFormat>Custom</PresentationFormat>
  <Paragraphs>711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Adarsh Kasula</cp:lastModifiedBy>
  <cp:revision>2</cp:revision>
  <dcterms:created xsi:type="dcterms:W3CDTF">2026-09-16T15:39:46Z</dcterms:created>
  <dcterms:modified xsi:type="dcterms:W3CDTF">2026-09-17T20:04:05Z</dcterms:modified>
</cp:coreProperties>
</file>